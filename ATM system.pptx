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4" r:id="rId4"/>
  </p:sldMasterIdLst>
  <p:notesMasterIdLst>
    <p:notesMasterId r:id="rId18"/>
  </p:notesMasterIdLst>
  <p:handoutMasterIdLst>
    <p:handoutMasterId r:id="rId19"/>
  </p:handoutMasterIdLst>
  <p:sldIdLst>
    <p:sldId id="281" r:id="rId5"/>
    <p:sldId id="284" r:id="rId6"/>
    <p:sldId id="279" r:id="rId7"/>
    <p:sldId id="266" r:id="rId8"/>
    <p:sldId id="294" r:id="rId9"/>
    <p:sldId id="295" r:id="rId10"/>
    <p:sldId id="296" r:id="rId11"/>
    <p:sldId id="301" r:id="rId12"/>
    <p:sldId id="297" r:id="rId13"/>
    <p:sldId id="298" r:id="rId14"/>
    <p:sldId id="299" r:id="rId15"/>
    <p:sldId id="300"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72866A-9746-C176-589F-901DDD273208}" v="224" dt="2025-01-09T20:41:53.60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879" autoAdjust="0"/>
  </p:normalViewPr>
  <p:slideViewPr>
    <p:cSldViewPr snapToGrid="0">
      <p:cViewPr varScale="1">
        <p:scale>
          <a:sx n="84" d="100"/>
          <a:sy n="84" d="100"/>
        </p:scale>
        <p:origin x="351" y="3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7A5F49-0DCB-4ABB-94A8-A494B8E8290E}" type="doc">
      <dgm:prSet loTypeId="urn:microsoft.com/office/officeart/2005/8/layout/hProcess11" loCatId="process" qsTypeId="urn:microsoft.com/office/officeart/2005/8/quickstyle/simple2" qsCatId="simple" csTypeId="urn:microsoft.com/office/officeart/2005/8/colors/accent1_2" csCatId="accent1" phldr="1"/>
      <dgm:spPr/>
    </dgm:pt>
    <dgm:pt modelId="{F40F6EA2-929A-46FD-85F1-A57B777CA759}">
      <dgm:prSet phldrT="[Text]"/>
      <dgm:spPr/>
      <dgm:t>
        <a:bodyPr/>
        <a:lstStyle/>
        <a:p>
          <a:r>
            <a:rPr lang="en-US"/>
            <a:t>Week 1: Requirement Gathering</a:t>
          </a:r>
        </a:p>
        <a:p>
          <a:r>
            <a:rPr lang="en-US"/>
            <a:t>- Researched ATM Functionalities.</a:t>
          </a:r>
        </a:p>
        <a:p>
          <a:r>
            <a:rPr lang="en-US"/>
            <a:t>- Define Project Scope.</a:t>
          </a:r>
        </a:p>
      </dgm:t>
    </dgm:pt>
    <dgm:pt modelId="{A0C06EE3-CB34-49FD-A1F1-45DF7B5A123E}" type="parTrans" cxnId="{D00849B7-EA7D-42E5-B25E-1A1036DEBB3D}">
      <dgm:prSet/>
      <dgm:spPr/>
      <dgm:t>
        <a:bodyPr/>
        <a:lstStyle/>
        <a:p>
          <a:endParaRPr lang="en-US"/>
        </a:p>
      </dgm:t>
    </dgm:pt>
    <dgm:pt modelId="{7DFCFC97-39BF-4A1C-9A19-098D2522EA8B}" type="sibTrans" cxnId="{D00849B7-EA7D-42E5-B25E-1A1036DEBB3D}">
      <dgm:prSet/>
      <dgm:spPr/>
      <dgm:t>
        <a:bodyPr/>
        <a:lstStyle/>
        <a:p>
          <a:endParaRPr lang="en-US"/>
        </a:p>
      </dgm:t>
    </dgm:pt>
    <dgm:pt modelId="{046441BB-03C5-4E4E-A4F6-D26C13941FE2}">
      <dgm:prSet phldrT="[Text]"/>
      <dgm:spPr/>
      <dgm:t>
        <a:bodyPr/>
        <a:lstStyle/>
        <a:p>
          <a:r>
            <a:rPr lang="en-US"/>
            <a:t>Week 2: Authentication and Backend logic</a:t>
          </a:r>
        </a:p>
        <a:p>
          <a:r>
            <a:rPr lang="en-US"/>
            <a:t>- Created User Authentication (Pin System).</a:t>
          </a:r>
        </a:p>
        <a:p>
          <a:r>
            <a:rPr lang="en-US"/>
            <a:t>- Added Basic Functionality (Withdraw, Deposit).</a:t>
          </a:r>
        </a:p>
      </dgm:t>
    </dgm:pt>
    <dgm:pt modelId="{BB562DEB-71A1-411F-A573-55AF9FC0297E}" type="parTrans" cxnId="{62259416-7871-4076-9F71-499F1F8D4D30}">
      <dgm:prSet/>
      <dgm:spPr/>
      <dgm:t>
        <a:bodyPr/>
        <a:lstStyle/>
        <a:p>
          <a:endParaRPr lang="en-US"/>
        </a:p>
      </dgm:t>
    </dgm:pt>
    <dgm:pt modelId="{D84596E3-125C-45A3-A6B9-B136CF23154D}" type="sibTrans" cxnId="{62259416-7871-4076-9F71-499F1F8D4D30}">
      <dgm:prSet/>
      <dgm:spPr/>
      <dgm:t>
        <a:bodyPr/>
        <a:lstStyle/>
        <a:p>
          <a:endParaRPr lang="en-US"/>
        </a:p>
      </dgm:t>
    </dgm:pt>
    <dgm:pt modelId="{E868A033-CB56-492B-A361-B1449232704B}">
      <dgm:prSet phldrT="[Text]"/>
      <dgm:spPr/>
      <dgm:t>
        <a:bodyPr/>
        <a:lstStyle/>
        <a:p>
          <a:r>
            <a:rPr lang="en-US" b="0">
              <a:latin typeface="+mn-lt"/>
            </a:rPr>
            <a:t>Week 4: Testing and Debugging</a:t>
          </a:r>
        </a:p>
        <a:p>
          <a:r>
            <a:rPr lang="en-US" b="0">
              <a:latin typeface="+mn-lt"/>
            </a:rPr>
            <a:t>- Tested Edge Cases</a:t>
          </a:r>
        </a:p>
        <a:p>
          <a:r>
            <a:rPr lang="en-US" b="0">
              <a:latin typeface="+mn-lt"/>
            </a:rPr>
            <a:t>(e.g. ,Incorrect Pin).</a:t>
          </a:r>
        </a:p>
        <a:p>
          <a:r>
            <a:rPr lang="en-US" b="0">
              <a:latin typeface="+mn-lt"/>
            </a:rPr>
            <a:t>- Finalized The Project.</a:t>
          </a:r>
        </a:p>
      </dgm:t>
    </dgm:pt>
    <dgm:pt modelId="{31E30826-5A78-44FE-B894-DCDB3062FA68}" type="parTrans" cxnId="{93BA3B72-6B6D-46AD-9772-89986DE1EC0E}">
      <dgm:prSet/>
      <dgm:spPr/>
      <dgm:t>
        <a:bodyPr/>
        <a:lstStyle/>
        <a:p>
          <a:endParaRPr lang="en-US"/>
        </a:p>
      </dgm:t>
    </dgm:pt>
    <dgm:pt modelId="{CFAFB8D9-66FA-459B-B81E-30C1DB869471}" type="sibTrans" cxnId="{93BA3B72-6B6D-46AD-9772-89986DE1EC0E}">
      <dgm:prSet/>
      <dgm:spPr/>
      <dgm:t>
        <a:bodyPr/>
        <a:lstStyle/>
        <a:p>
          <a:endParaRPr lang="en-US"/>
        </a:p>
      </dgm:t>
    </dgm:pt>
    <dgm:pt modelId="{9E1DAB65-5F0D-4B4C-93F1-0CC225BFD995}">
      <dgm:prSet phldrT="[Text]"/>
      <dgm:spPr/>
      <dgm:t>
        <a:bodyPr/>
        <a:lstStyle/>
        <a:p>
          <a:r>
            <a:rPr lang="en-US"/>
            <a:t>Week 3: Database Integration</a:t>
          </a:r>
        </a:p>
        <a:p>
          <a:r>
            <a:rPr lang="en-US"/>
            <a:t>- Integrated SQLite to Store User Accounts and Transaction.</a:t>
          </a:r>
        </a:p>
      </dgm:t>
    </dgm:pt>
    <dgm:pt modelId="{D060F8D3-A173-4A5D-93E3-5FAEB08BD3DD}" type="parTrans" cxnId="{44D232E1-7B4C-4B81-BBAB-2D50FCACFDC7}">
      <dgm:prSet/>
      <dgm:spPr/>
      <dgm:t>
        <a:bodyPr/>
        <a:lstStyle/>
        <a:p>
          <a:endParaRPr lang="en-US"/>
        </a:p>
      </dgm:t>
    </dgm:pt>
    <dgm:pt modelId="{03340C86-5755-476B-9183-AAB95E2D02FE}" type="sibTrans" cxnId="{44D232E1-7B4C-4B81-BBAB-2D50FCACFDC7}">
      <dgm:prSet/>
      <dgm:spPr/>
      <dgm:t>
        <a:bodyPr/>
        <a:lstStyle/>
        <a:p>
          <a:endParaRPr lang="en-US"/>
        </a:p>
      </dgm:t>
    </dgm:pt>
    <dgm:pt modelId="{06F7A967-1B1F-43C3-B9A5-5E98CFEF4B5B}" type="pres">
      <dgm:prSet presAssocID="{967A5F49-0DCB-4ABB-94A8-A494B8E8290E}" presName="Name0" presStyleCnt="0">
        <dgm:presLayoutVars>
          <dgm:dir/>
          <dgm:resizeHandles val="exact"/>
        </dgm:presLayoutVars>
      </dgm:prSet>
      <dgm:spPr/>
    </dgm:pt>
    <dgm:pt modelId="{1B1ABC0B-6145-4966-A14D-36B7FCAA4B49}" type="pres">
      <dgm:prSet presAssocID="{967A5F49-0DCB-4ABB-94A8-A494B8E8290E}" presName="arrow" presStyleLbl="bgShp" presStyleIdx="0" presStyleCnt="1"/>
      <dgm:spPr/>
    </dgm:pt>
    <dgm:pt modelId="{0666F2E3-48FC-41DD-80F3-8BAE622E8C6B}" type="pres">
      <dgm:prSet presAssocID="{967A5F49-0DCB-4ABB-94A8-A494B8E8290E}" presName="points" presStyleCnt="0"/>
      <dgm:spPr/>
    </dgm:pt>
    <dgm:pt modelId="{37DB8689-D7F8-42BE-A121-7792F890FC44}" type="pres">
      <dgm:prSet presAssocID="{F40F6EA2-929A-46FD-85F1-A57B777CA759}" presName="compositeA" presStyleCnt="0"/>
      <dgm:spPr/>
    </dgm:pt>
    <dgm:pt modelId="{6804734F-49AB-4CE9-9E4A-EBC9160C1F88}" type="pres">
      <dgm:prSet presAssocID="{F40F6EA2-929A-46FD-85F1-A57B777CA759}" presName="textA" presStyleLbl="revTx" presStyleIdx="0" presStyleCnt="4">
        <dgm:presLayoutVars>
          <dgm:bulletEnabled val="1"/>
        </dgm:presLayoutVars>
      </dgm:prSet>
      <dgm:spPr/>
    </dgm:pt>
    <dgm:pt modelId="{8EA43F9C-1E9C-4A2F-8032-451165B559AC}" type="pres">
      <dgm:prSet presAssocID="{F40F6EA2-929A-46FD-85F1-A57B777CA759}" presName="circleA" presStyleLbl="node1" presStyleIdx="0" presStyleCnt="4"/>
      <dgm:spPr/>
    </dgm:pt>
    <dgm:pt modelId="{151CCF53-8D4F-4C6A-897E-383F51BA47BC}" type="pres">
      <dgm:prSet presAssocID="{F40F6EA2-929A-46FD-85F1-A57B777CA759}" presName="spaceA" presStyleCnt="0"/>
      <dgm:spPr/>
    </dgm:pt>
    <dgm:pt modelId="{21A9FD99-9DA5-47CD-A73D-26805331D861}" type="pres">
      <dgm:prSet presAssocID="{7DFCFC97-39BF-4A1C-9A19-098D2522EA8B}" presName="space" presStyleCnt="0"/>
      <dgm:spPr/>
    </dgm:pt>
    <dgm:pt modelId="{95249551-4457-4B68-AF02-00744B64C035}" type="pres">
      <dgm:prSet presAssocID="{046441BB-03C5-4E4E-A4F6-D26C13941FE2}" presName="compositeB" presStyleCnt="0"/>
      <dgm:spPr/>
    </dgm:pt>
    <dgm:pt modelId="{34CA7D68-0906-4367-965B-17D8EB7152E3}" type="pres">
      <dgm:prSet presAssocID="{046441BB-03C5-4E4E-A4F6-D26C13941FE2}" presName="textB" presStyleLbl="revTx" presStyleIdx="1" presStyleCnt="4">
        <dgm:presLayoutVars>
          <dgm:bulletEnabled val="1"/>
        </dgm:presLayoutVars>
      </dgm:prSet>
      <dgm:spPr/>
    </dgm:pt>
    <dgm:pt modelId="{CDBA765C-65E0-4A46-93A5-40B9C0BCD6BB}" type="pres">
      <dgm:prSet presAssocID="{046441BB-03C5-4E4E-A4F6-D26C13941FE2}" presName="circleB" presStyleLbl="node1" presStyleIdx="1" presStyleCnt="4"/>
      <dgm:spPr/>
    </dgm:pt>
    <dgm:pt modelId="{F1ECA2E0-7811-48A6-9432-C56201DBF316}" type="pres">
      <dgm:prSet presAssocID="{046441BB-03C5-4E4E-A4F6-D26C13941FE2}" presName="spaceB" presStyleCnt="0"/>
      <dgm:spPr/>
    </dgm:pt>
    <dgm:pt modelId="{5DCD44A8-BA62-468B-8250-0019D770C1EF}" type="pres">
      <dgm:prSet presAssocID="{D84596E3-125C-45A3-A6B9-B136CF23154D}" presName="space" presStyleCnt="0"/>
      <dgm:spPr/>
    </dgm:pt>
    <dgm:pt modelId="{20B44B2C-82CC-47AC-883A-C040A1223857}" type="pres">
      <dgm:prSet presAssocID="{9E1DAB65-5F0D-4B4C-93F1-0CC225BFD995}" presName="compositeA" presStyleCnt="0"/>
      <dgm:spPr/>
    </dgm:pt>
    <dgm:pt modelId="{556DAE33-840E-4115-9795-AFF0859E6B21}" type="pres">
      <dgm:prSet presAssocID="{9E1DAB65-5F0D-4B4C-93F1-0CC225BFD995}" presName="textA" presStyleLbl="revTx" presStyleIdx="2" presStyleCnt="4">
        <dgm:presLayoutVars>
          <dgm:bulletEnabled val="1"/>
        </dgm:presLayoutVars>
      </dgm:prSet>
      <dgm:spPr/>
    </dgm:pt>
    <dgm:pt modelId="{AE1AAA69-DE33-4E6D-8CD2-33DC456F64D1}" type="pres">
      <dgm:prSet presAssocID="{9E1DAB65-5F0D-4B4C-93F1-0CC225BFD995}" presName="circleA" presStyleLbl="node1" presStyleIdx="2" presStyleCnt="4"/>
      <dgm:spPr/>
    </dgm:pt>
    <dgm:pt modelId="{89E90CC0-04C7-4872-878D-4B085BE629CC}" type="pres">
      <dgm:prSet presAssocID="{9E1DAB65-5F0D-4B4C-93F1-0CC225BFD995}" presName="spaceA" presStyleCnt="0"/>
      <dgm:spPr/>
    </dgm:pt>
    <dgm:pt modelId="{A434204B-9A8E-4CE8-A375-9D5373D8389F}" type="pres">
      <dgm:prSet presAssocID="{03340C86-5755-476B-9183-AAB95E2D02FE}" presName="space" presStyleCnt="0"/>
      <dgm:spPr/>
    </dgm:pt>
    <dgm:pt modelId="{9E9C73F0-14AF-4F66-A61B-338898A9A9A8}" type="pres">
      <dgm:prSet presAssocID="{E868A033-CB56-492B-A361-B1449232704B}" presName="compositeB" presStyleCnt="0"/>
      <dgm:spPr/>
    </dgm:pt>
    <dgm:pt modelId="{84D4A172-4422-410E-BE1A-A3BF6453B23D}" type="pres">
      <dgm:prSet presAssocID="{E868A033-CB56-492B-A361-B1449232704B}" presName="textB" presStyleLbl="revTx" presStyleIdx="3" presStyleCnt="4">
        <dgm:presLayoutVars>
          <dgm:bulletEnabled val="1"/>
        </dgm:presLayoutVars>
      </dgm:prSet>
      <dgm:spPr/>
    </dgm:pt>
    <dgm:pt modelId="{A12E21A0-5D3B-46EA-9603-D51A375C6E7C}" type="pres">
      <dgm:prSet presAssocID="{E868A033-CB56-492B-A361-B1449232704B}" presName="circleB" presStyleLbl="node1" presStyleIdx="3" presStyleCnt="4"/>
      <dgm:spPr/>
    </dgm:pt>
    <dgm:pt modelId="{C43F1B61-11E9-4D8F-9715-9B9AAF24BDEC}" type="pres">
      <dgm:prSet presAssocID="{E868A033-CB56-492B-A361-B1449232704B}" presName="spaceB" presStyleCnt="0"/>
      <dgm:spPr/>
    </dgm:pt>
  </dgm:ptLst>
  <dgm:cxnLst>
    <dgm:cxn modelId="{62259416-7871-4076-9F71-499F1F8D4D30}" srcId="{967A5F49-0DCB-4ABB-94A8-A494B8E8290E}" destId="{046441BB-03C5-4E4E-A4F6-D26C13941FE2}" srcOrd="1" destOrd="0" parTransId="{BB562DEB-71A1-411F-A573-55AF9FC0297E}" sibTransId="{D84596E3-125C-45A3-A6B9-B136CF23154D}"/>
    <dgm:cxn modelId="{9C6C1A31-EC7E-4308-B0A6-66B4795A6C7A}" type="presOf" srcId="{046441BB-03C5-4E4E-A4F6-D26C13941FE2}" destId="{34CA7D68-0906-4367-965B-17D8EB7152E3}" srcOrd="0" destOrd="0" presId="urn:microsoft.com/office/officeart/2005/8/layout/hProcess11"/>
    <dgm:cxn modelId="{BA516468-7583-491F-B1D8-F33D284C1CF0}" type="presOf" srcId="{9E1DAB65-5F0D-4B4C-93F1-0CC225BFD995}" destId="{556DAE33-840E-4115-9795-AFF0859E6B21}" srcOrd="0" destOrd="0" presId="urn:microsoft.com/office/officeart/2005/8/layout/hProcess11"/>
    <dgm:cxn modelId="{93BA3B72-6B6D-46AD-9772-89986DE1EC0E}" srcId="{967A5F49-0DCB-4ABB-94A8-A494B8E8290E}" destId="{E868A033-CB56-492B-A361-B1449232704B}" srcOrd="3" destOrd="0" parTransId="{31E30826-5A78-44FE-B894-DCDB3062FA68}" sibTransId="{CFAFB8D9-66FA-459B-B81E-30C1DB869471}"/>
    <dgm:cxn modelId="{0927C253-BD81-41AA-9E36-4BA69D2EE8A4}" type="presOf" srcId="{F40F6EA2-929A-46FD-85F1-A57B777CA759}" destId="{6804734F-49AB-4CE9-9E4A-EBC9160C1F88}" srcOrd="0" destOrd="0" presId="urn:microsoft.com/office/officeart/2005/8/layout/hProcess11"/>
    <dgm:cxn modelId="{796D007E-4E46-4CA6-9A4A-098C6A58A651}" type="presOf" srcId="{967A5F49-0DCB-4ABB-94A8-A494B8E8290E}" destId="{06F7A967-1B1F-43C3-B9A5-5E98CFEF4B5B}" srcOrd="0" destOrd="0" presId="urn:microsoft.com/office/officeart/2005/8/layout/hProcess11"/>
    <dgm:cxn modelId="{D00849B7-EA7D-42E5-B25E-1A1036DEBB3D}" srcId="{967A5F49-0DCB-4ABB-94A8-A494B8E8290E}" destId="{F40F6EA2-929A-46FD-85F1-A57B777CA759}" srcOrd="0" destOrd="0" parTransId="{A0C06EE3-CB34-49FD-A1F1-45DF7B5A123E}" sibTransId="{7DFCFC97-39BF-4A1C-9A19-098D2522EA8B}"/>
    <dgm:cxn modelId="{6157D8B7-21C1-4BCC-A7BA-F36990855553}" type="presOf" srcId="{E868A033-CB56-492B-A361-B1449232704B}" destId="{84D4A172-4422-410E-BE1A-A3BF6453B23D}" srcOrd="0" destOrd="0" presId="urn:microsoft.com/office/officeart/2005/8/layout/hProcess11"/>
    <dgm:cxn modelId="{44D232E1-7B4C-4B81-BBAB-2D50FCACFDC7}" srcId="{967A5F49-0DCB-4ABB-94A8-A494B8E8290E}" destId="{9E1DAB65-5F0D-4B4C-93F1-0CC225BFD995}" srcOrd="2" destOrd="0" parTransId="{D060F8D3-A173-4A5D-93E3-5FAEB08BD3DD}" sibTransId="{03340C86-5755-476B-9183-AAB95E2D02FE}"/>
    <dgm:cxn modelId="{D9829F59-734C-4805-8F51-FE049827C9F3}" type="presParOf" srcId="{06F7A967-1B1F-43C3-B9A5-5E98CFEF4B5B}" destId="{1B1ABC0B-6145-4966-A14D-36B7FCAA4B49}" srcOrd="0" destOrd="0" presId="urn:microsoft.com/office/officeart/2005/8/layout/hProcess11"/>
    <dgm:cxn modelId="{2778A5B0-F8FE-452C-B156-7663518C29E8}" type="presParOf" srcId="{06F7A967-1B1F-43C3-B9A5-5E98CFEF4B5B}" destId="{0666F2E3-48FC-41DD-80F3-8BAE622E8C6B}" srcOrd="1" destOrd="0" presId="urn:microsoft.com/office/officeart/2005/8/layout/hProcess11"/>
    <dgm:cxn modelId="{FE3A1F4D-D122-44C5-B58B-7DA37900DE55}" type="presParOf" srcId="{0666F2E3-48FC-41DD-80F3-8BAE622E8C6B}" destId="{37DB8689-D7F8-42BE-A121-7792F890FC44}" srcOrd="0" destOrd="0" presId="urn:microsoft.com/office/officeart/2005/8/layout/hProcess11"/>
    <dgm:cxn modelId="{9E8A71F4-F244-4BFA-A8BD-2670A70DD321}" type="presParOf" srcId="{37DB8689-D7F8-42BE-A121-7792F890FC44}" destId="{6804734F-49AB-4CE9-9E4A-EBC9160C1F88}" srcOrd="0" destOrd="0" presId="urn:microsoft.com/office/officeart/2005/8/layout/hProcess11"/>
    <dgm:cxn modelId="{39535418-D12D-45F9-A163-8C97BEC77172}" type="presParOf" srcId="{37DB8689-D7F8-42BE-A121-7792F890FC44}" destId="{8EA43F9C-1E9C-4A2F-8032-451165B559AC}" srcOrd="1" destOrd="0" presId="urn:microsoft.com/office/officeart/2005/8/layout/hProcess11"/>
    <dgm:cxn modelId="{19F5B120-6335-4215-8735-90919200E3E8}" type="presParOf" srcId="{37DB8689-D7F8-42BE-A121-7792F890FC44}" destId="{151CCF53-8D4F-4C6A-897E-383F51BA47BC}" srcOrd="2" destOrd="0" presId="urn:microsoft.com/office/officeart/2005/8/layout/hProcess11"/>
    <dgm:cxn modelId="{B4DEAE4D-86A1-466F-9675-9B9F6A1854C5}" type="presParOf" srcId="{0666F2E3-48FC-41DD-80F3-8BAE622E8C6B}" destId="{21A9FD99-9DA5-47CD-A73D-26805331D861}" srcOrd="1" destOrd="0" presId="urn:microsoft.com/office/officeart/2005/8/layout/hProcess11"/>
    <dgm:cxn modelId="{DA5C7F94-D7E8-454E-BC2C-D473AAA5C4FD}" type="presParOf" srcId="{0666F2E3-48FC-41DD-80F3-8BAE622E8C6B}" destId="{95249551-4457-4B68-AF02-00744B64C035}" srcOrd="2" destOrd="0" presId="urn:microsoft.com/office/officeart/2005/8/layout/hProcess11"/>
    <dgm:cxn modelId="{6295DE32-A1A5-4551-9EB4-9857A1F97448}" type="presParOf" srcId="{95249551-4457-4B68-AF02-00744B64C035}" destId="{34CA7D68-0906-4367-965B-17D8EB7152E3}" srcOrd="0" destOrd="0" presId="urn:microsoft.com/office/officeart/2005/8/layout/hProcess11"/>
    <dgm:cxn modelId="{9B8D946C-FF1B-4B98-BAFE-D17D2480E8CE}" type="presParOf" srcId="{95249551-4457-4B68-AF02-00744B64C035}" destId="{CDBA765C-65E0-4A46-93A5-40B9C0BCD6BB}" srcOrd="1" destOrd="0" presId="urn:microsoft.com/office/officeart/2005/8/layout/hProcess11"/>
    <dgm:cxn modelId="{E82C3EE3-7E10-42E0-B89F-E66C56D3552B}" type="presParOf" srcId="{95249551-4457-4B68-AF02-00744B64C035}" destId="{F1ECA2E0-7811-48A6-9432-C56201DBF316}" srcOrd="2" destOrd="0" presId="urn:microsoft.com/office/officeart/2005/8/layout/hProcess11"/>
    <dgm:cxn modelId="{E1C1F190-7A8C-4D90-95F6-7BF045844E9E}" type="presParOf" srcId="{0666F2E3-48FC-41DD-80F3-8BAE622E8C6B}" destId="{5DCD44A8-BA62-468B-8250-0019D770C1EF}" srcOrd="3" destOrd="0" presId="urn:microsoft.com/office/officeart/2005/8/layout/hProcess11"/>
    <dgm:cxn modelId="{4CB8068B-5FD3-49B8-8AFB-68527C442375}" type="presParOf" srcId="{0666F2E3-48FC-41DD-80F3-8BAE622E8C6B}" destId="{20B44B2C-82CC-47AC-883A-C040A1223857}" srcOrd="4" destOrd="0" presId="urn:microsoft.com/office/officeart/2005/8/layout/hProcess11"/>
    <dgm:cxn modelId="{00368720-7524-446E-AA94-565E3CA0929B}" type="presParOf" srcId="{20B44B2C-82CC-47AC-883A-C040A1223857}" destId="{556DAE33-840E-4115-9795-AFF0859E6B21}" srcOrd="0" destOrd="0" presId="urn:microsoft.com/office/officeart/2005/8/layout/hProcess11"/>
    <dgm:cxn modelId="{23569E30-4463-416C-8C67-7217875523F9}" type="presParOf" srcId="{20B44B2C-82CC-47AC-883A-C040A1223857}" destId="{AE1AAA69-DE33-4E6D-8CD2-33DC456F64D1}" srcOrd="1" destOrd="0" presId="urn:microsoft.com/office/officeart/2005/8/layout/hProcess11"/>
    <dgm:cxn modelId="{A89F39D5-09C2-49ED-B09B-A0912307F6C8}" type="presParOf" srcId="{20B44B2C-82CC-47AC-883A-C040A1223857}" destId="{89E90CC0-04C7-4872-878D-4B085BE629CC}" srcOrd="2" destOrd="0" presId="urn:microsoft.com/office/officeart/2005/8/layout/hProcess11"/>
    <dgm:cxn modelId="{98689B8A-618F-49DC-B12B-648557F5A101}" type="presParOf" srcId="{0666F2E3-48FC-41DD-80F3-8BAE622E8C6B}" destId="{A434204B-9A8E-4CE8-A375-9D5373D8389F}" srcOrd="5" destOrd="0" presId="urn:microsoft.com/office/officeart/2005/8/layout/hProcess11"/>
    <dgm:cxn modelId="{520B6785-D94F-435F-83DC-698292EF6A45}" type="presParOf" srcId="{0666F2E3-48FC-41DD-80F3-8BAE622E8C6B}" destId="{9E9C73F0-14AF-4F66-A61B-338898A9A9A8}" srcOrd="6" destOrd="0" presId="urn:microsoft.com/office/officeart/2005/8/layout/hProcess11"/>
    <dgm:cxn modelId="{77501E7E-2C21-40EA-97C9-0784644BB0DF}" type="presParOf" srcId="{9E9C73F0-14AF-4F66-A61B-338898A9A9A8}" destId="{84D4A172-4422-410E-BE1A-A3BF6453B23D}" srcOrd="0" destOrd="0" presId="urn:microsoft.com/office/officeart/2005/8/layout/hProcess11"/>
    <dgm:cxn modelId="{8400862E-03DB-4CCC-B49B-2A857DD53173}" type="presParOf" srcId="{9E9C73F0-14AF-4F66-A61B-338898A9A9A8}" destId="{A12E21A0-5D3B-46EA-9603-D51A375C6E7C}" srcOrd="1" destOrd="0" presId="urn:microsoft.com/office/officeart/2005/8/layout/hProcess11"/>
    <dgm:cxn modelId="{86A491AC-4958-4A67-B186-167538FAE111}" type="presParOf" srcId="{9E9C73F0-14AF-4F66-A61B-338898A9A9A8}" destId="{C43F1B61-11E9-4D8F-9715-9B9AAF24BDEC}"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1ABC0B-6145-4966-A14D-36B7FCAA4B49}">
      <dsp:nvSpPr>
        <dsp:cNvPr id="0" name=""/>
        <dsp:cNvSpPr/>
      </dsp:nvSpPr>
      <dsp:spPr>
        <a:xfrm>
          <a:off x="0" y="1305401"/>
          <a:ext cx="10515600" cy="174053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04734F-49AB-4CE9-9E4A-EBC9160C1F88}">
      <dsp:nvSpPr>
        <dsp:cNvPr id="0" name=""/>
        <dsp:cNvSpPr/>
      </dsp:nvSpPr>
      <dsp:spPr>
        <a:xfrm>
          <a:off x="4736" y="0"/>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kern="1200"/>
            <a:t>Week 1: Requirement Gathering</a:t>
          </a:r>
        </a:p>
        <a:p>
          <a:pPr marL="0" lvl="0" indent="0" algn="ctr" defTabSz="577850">
            <a:lnSpc>
              <a:spcPct val="90000"/>
            </a:lnSpc>
            <a:spcBef>
              <a:spcPct val="0"/>
            </a:spcBef>
            <a:spcAft>
              <a:spcPct val="35000"/>
            </a:spcAft>
            <a:buNone/>
          </a:pPr>
          <a:r>
            <a:rPr lang="en-US" sz="1300" kern="1200"/>
            <a:t>- Researched ATM Functionalities.</a:t>
          </a:r>
        </a:p>
        <a:p>
          <a:pPr marL="0" lvl="0" indent="0" algn="ctr" defTabSz="577850">
            <a:lnSpc>
              <a:spcPct val="90000"/>
            </a:lnSpc>
            <a:spcBef>
              <a:spcPct val="0"/>
            </a:spcBef>
            <a:spcAft>
              <a:spcPct val="35000"/>
            </a:spcAft>
            <a:buNone/>
          </a:pPr>
          <a:r>
            <a:rPr lang="en-US" sz="1300" kern="1200"/>
            <a:t>- Define Project Scope.</a:t>
          </a:r>
        </a:p>
      </dsp:txBody>
      <dsp:txXfrm>
        <a:off x="4736" y="0"/>
        <a:ext cx="2278208" cy="1740535"/>
      </dsp:txXfrm>
    </dsp:sp>
    <dsp:sp modelId="{8EA43F9C-1E9C-4A2F-8032-451165B559AC}">
      <dsp:nvSpPr>
        <dsp:cNvPr id="0" name=""/>
        <dsp:cNvSpPr/>
      </dsp:nvSpPr>
      <dsp:spPr>
        <a:xfrm>
          <a:off x="926274" y="1958102"/>
          <a:ext cx="435133" cy="43513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4CA7D68-0906-4367-965B-17D8EB7152E3}">
      <dsp:nvSpPr>
        <dsp:cNvPr id="0" name=""/>
        <dsp:cNvSpPr/>
      </dsp:nvSpPr>
      <dsp:spPr>
        <a:xfrm>
          <a:off x="2396855" y="2610802"/>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kern="1200"/>
            <a:t>Week 2: Authentication and Backend logic</a:t>
          </a:r>
        </a:p>
        <a:p>
          <a:pPr marL="0" lvl="0" indent="0" algn="ctr" defTabSz="577850">
            <a:lnSpc>
              <a:spcPct val="90000"/>
            </a:lnSpc>
            <a:spcBef>
              <a:spcPct val="0"/>
            </a:spcBef>
            <a:spcAft>
              <a:spcPct val="35000"/>
            </a:spcAft>
            <a:buNone/>
          </a:pPr>
          <a:r>
            <a:rPr lang="en-US" sz="1300" kern="1200"/>
            <a:t>- Created User Authentication (Pin System).</a:t>
          </a:r>
        </a:p>
        <a:p>
          <a:pPr marL="0" lvl="0" indent="0" algn="ctr" defTabSz="577850">
            <a:lnSpc>
              <a:spcPct val="90000"/>
            </a:lnSpc>
            <a:spcBef>
              <a:spcPct val="0"/>
            </a:spcBef>
            <a:spcAft>
              <a:spcPct val="35000"/>
            </a:spcAft>
            <a:buNone/>
          </a:pPr>
          <a:r>
            <a:rPr lang="en-US" sz="1300" kern="1200"/>
            <a:t>- Added Basic Functionality (Withdraw, Deposit).</a:t>
          </a:r>
        </a:p>
      </dsp:txBody>
      <dsp:txXfrm>
        <a:off x="2396855" y="2610802"/>
        <a:ext cx="2278208" cy="1740535"/>
      </dsp:txXfrm>
    </dsp:sp>
    <dsp:sp modelId="{CDBA765C-65E0-4A46-93A5-40B9C0BCD6BB}">
      <dsp:nvSpPr>
        <dsp:cNvPr id="0" name=""/>
        <dsp:cNvSpPr/>
      </dsp:nvSpPr>
      <dsp:spPr>
        <a:xfrm>
          <a:off x="3318393" y="1958102"/>
          <a:ext cx="435133" cy="43513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56DAE33-840E-4115-9795-AFF0859E6B21}">
      <dsp:nvSpPr>
        <dsp:cNvPr id="0" name=""/>
        <dsp:cNvSpPr/>
      </dsp:nvSpPr>
      <dsp:spPr>
        <a:xfrm>
          <a:off x="4788975" y="0"/>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kern="1200"/>
            <a:t>Week 3: Database Integration</a:t>
          </a:r>
        </a:p>
        <a:p>
          <a:pPr marL="0" lvl="0" indent="0" algn="ctr" defTabSz="577850">
            <a:lnSpc>
              <a:spcPct val="90000"/>
            </a:lnSpc>
            <a:spcBef>
              <a:spcPct val="0"/>
            </a:spcBef>
            <a:spcAft>
              <a:spcPct val="35000"/>
            </a:spcAft>
            <a:buNone/>
          </a:pPr>
          <a:r>
            <a:rPr lang="en-US" sz="1300" kern="1200"/>
            <a:t>- Integrated SQLite to Store User Accounts and Transaction.</a:t>
          </a:r>
        </a:p>
      </dsp:txBody>
      <dsp:txXfrm>
        <a:off x="4788975" y="0"/>
        <a:ext cx="2278208" cy="1740535"/>
      </dsp:txXfrm>
    </dsp:sp>
    <dsp:sp modelId="{AE1AAA69-DE33-4E6D-8CD2-33DC456F64D1}">
      <dsp:nvSpPr>
        <dsp:cNvPr id="0" name=""/>
        <dsp:cNvSpPr/>
      </dsp:nvSpPr>
      <dsp:spPr>
        <a:xfrm>
          <a:off x="5710512" y="1958102"/>
          <a:ext cx="435133" cy="43513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4D4A172-4422-410E-BE1A-A3BF6453B23D}">
      <dsp:nvSpPr>
        <dsp:cNvPr id="0" name=""/>
        <dsp:cNvSpPr/>
      </dsp:nvSpPr>
      <dsp:spPr>
        <a:xfrm>
          <a:off x="7181094" y="2610802"/>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b="0" kern="1200">
              <a:latin typeface="+mn-lt"/>
            </a:rPr>
            <a:t>Week 4: Testing and Debugging</a:t>
          </a:r>
        </a:p>
        <a:p>
          <a:pPr marL="0" lvl="0" indent="0" algn="ctr" defTabSz="577850">
            <a:lnSpc>
              <a:spcPct val="90000"/>
            </a:lnSpc>
            <a:spcBef>
              <a:spcPct val="0"/>
            </a:spcBef>
            <a:spcAft>
              <a:spcPct val="35000"/>
            </a:spcAft>
            <a:buNone/>
          </a:pPr>
          <a:r>
            <a:rPr lang="en-US" sz="1300" b="0" kern="1200">
              <a:latin typeface="+mn-lt"/>
            </a:rPr>
            <a:t>- Tested Edge Cases</a:t>
          </a:r>
        </a:p>
        <a:p>
          <a:pPr marL="0" lvl="0" indent="0" algn="ctr" defTabSz="577850">
            <a:lnSpc>
              <a:spcPct val="90000"/>
            </a:lnSpc>
            <a:spcBef>
              <a:spcPct val="0"/>
            </a:spcBef>
            <a:spcAft>
              <a:spcPct val="35000"/>
            </a:spcAft>
            <a:buNone/>
          </a:pPr>
          <a:r>
            <a:rPr lang="en-US" sz="1300" b="0" kern="1200">
              <a:latin typeface="+mn-lt"/>
            </a:rPr>
            <a:t>(e.g. ,Incorrect Pin).</a:t>
          </a:r>
        </a:p>
        <a:p>
          <a:pPr marL="0" lvl="0" indent="0" algn="ctr" defTabSz="577850">
            <a:lnSpc>
              <a:spcPct val="90000"/>
            </a:lnSpc>
            <a:spcBef>
              <a:spcPct val="0"/>
            </a:spcBef>
            <a:spcAft>
              <a:spcPct val="35000"/>
            </a:spcAft>
            <a:buNone/>
          </a:pPr>
          <a:r>
            <a:rPr lang="en-US" sz="1300" b="0" kern="1200">
              <a:latin typeface="+mn-lt"/>
            </a:rPr>
            <a:t>- Finalized The Project.</a:t>
          </a:r>
        </a:p>
      </dsp:txBody>
      <dsp:txXfrm>
        <a:off x="7181094" y="2610802"/>
        <a:ext cx="2278208" cy="1740535"/>
      </dsp:txXfrm>
    </dsp:sp>
    <dsp:sp modelId="{A12E21A0-5D3B-46EA-9603-D51A375C6E7C}">
      <dsp:nvSpPr>
        <dsp:cNvPr id="0" name=""/>
        <dsp:cNvSpPr/>
      </dsp:nvSpPr>
      <dsp:spPr>
        <a:xfrm>
          <a:off x="8102632" y="1958102"/>
          <a:ext cx="435133" cy="43513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1/10/2025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2986387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E2F36-C19D-26DC-5D41-48EA0C0A33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607BD8-D5B1-D7CB-3648-6304136F2C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5C7760-C41B-ECA4-0110-291CCDBC340F}"/>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5" name="Footer Placeholder 4">
            <a:extLst>
              <a:ext uri="{FF2B5EF4-FFF2-40B4-BE49-F238E27FC236}">
                <a16:creationId xmlns:a16="http://schemas.microsoft.com/office/drawing/2014/main" id="{73C4036A-93CC-CD8A-1B96-42ED6F4DEE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D74B0-DE00-1A37-881D-9D2896337E5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4361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30570-A7BD-C23B-10A9-352CDE46A6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BC5170-AF57-ADA1-8B92-18AA36CE4D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A32F09-82AB-55A5-5974-EB22C0FC0F91}"/>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5" name="Footer Placeholder 4">
            <a:extLst>
              <a:ext uri="{FF2B5EF4-FFF2-40B4-BE49-F238E27FC236}">
                <a16:creationId xmlns:a16="http://schemas.microsoft.com/office/drawing/2014/main" id="{9CD3607B-135C-3797-78DC-EBAB5CDB3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46292-C90C-7282-CD34-32470CD4BD8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1925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B89FE-BBDE-4451-B441-D5B51A99C5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CDB5A9-310E-D975-96C3-A3002A5866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723123-7052-B8B0-9CC3-39554E9E9593}"/>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5" name="Footer Placeholder 4">
            <a:extLst>
              <a:ext uri="{FF2B5EF4-FFF2-40B4-BE49-F238E27FC236}">
                <a16:creationId xmlns:a16="http://schemas.microsoft.com/office/drawing/2014/main" id="{627AB1CC-69AE-6548-4963-7568C3E649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36002-9CA2-C0AB-9BF7-8E77F5649207}"/>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76236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EAEBA-275C-12B7-40E7-0A266D17C9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184D26-4B27-3682-BEE0-4043EDD7A9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879F3B-D4F2-8BD2-C4F8-E4C19E6DF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EC2C28-F27B-C07C-AE5F-DEF89F2D21F4}"/>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6" name="Footer Placeholder 5">
            <a:extLst>
              <a:ext uri="{FF2B5EF4-FFF2-40B4-BE49-F238E27FC236}">
                <a16:creationId xmlns:a16="http://schemas.microsoft.com/office/drawing/2014/main" id="{25A821D8-0BA5-3F71-C08F-50B1454CB5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C00F56-1516-5370-FD0F-AD4CE39F9043}"/>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895135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B86F-5D84-6E66-90A7-9CEF0936AD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E371F7-9B55-E60D-3753-3B0944002E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77C3DE-B2A5-F40C-564E-B6D277EEE2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B3981C-61AE-6767-D866-02B59C8DC3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7B34E-CDE1-579E-0004-69345ADB8F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D65D7D-1594-23C1-B339-169BA9D29AEB}"/>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8" name="Footer Placeholder 7">
            <a:extLst>
              <a:ext uri="{FF2B5EF4-FFF2-40B4-BE49-F238E27FC236}">
                <a16:creationId xmlns:a16="http://schemas.microsoft.com/office/drawing/2014/main" id="{826D3CD3-4247-6098-369E-12DB7FDD18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991E19-824F-EF9C-BD70-CE42D415B9F7}"/>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947265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906C-447C-C309-208A-2D76716737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D989DB-91B8-8C55-9092-0DA287B19FB5}"/>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4" name="Footer Placeholder 3">
            <a:extLst>
              <a:ext uri="{FF2B5EF4-FFF2-40B4-BE49-F238E27FC236}">
                <a16:creationId xmlns:a16="http://schemas.microsoft.com/office/drawing/2014/main" id="{6148470D-0F27-3587-7C5D-C8D02925BC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AC6666-A5AA-887F-ED63-68D7CB3BED47}"/>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30704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EE2B6C-EBF7-340D-CCE9-D37C464BB34C}"/>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3" name="Footer Placeholder 2">
            <a:extLst>
              <a:ext uri="{FF2B5EF4-FFF2-40B4-BE49-F238E27FC236}">
                <a16:creationId xmlns:a16="http://schemas.microsoft.com/office/drawing/2014/main" id="{0C2F1F2E-7ED8-B869-80F0-D8C4D0D5C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D59675-9862-C940-BC5D-F0E8EFA2CE31}"/>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263656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014E5-AE5F-B73B-6ACF-CE5D87743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D5F380-6261-DF8E-6F35-44F719772A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4083AE-DD24-B9ED-5560-8DF01EA68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1EF011-58AA-FABF-9A5F-C46030022636}"/>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6" name="Footer Placeholder 5">
            <a:extLst>
              <a:ext uri="{FF2B5EF4-FFF2-40B4-BE49-F238E27FC236}">
                <a16:creationId xmlns:a16="http://schemas.microsoft.com/office/drawing/2014/main" id="{35677FC3-E411-0792-4154-B38974050E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670712-B0C0-4790-BE13-4DA53B933FB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77823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96CBD-943B-CF54-218B-9FBD3E12EB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56D908-F32B-D892-2A23-212CA5F743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C7E8AE-72D2-84FA-74B6-A4EFC5860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C4C843-2963-D230-7C21-385D0E762537}"/>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6" name="Footer Placeholder 5">
            <a:extLst>
              <a:ext uri="{FF2B5EF4-FFF2-40B4-BE49-F238E27FC236}">
                <a16:creationId xmlns:a16="http://schemas.microsoft.com/office/drawing/2014/main" id="{21CAC491-982B-695F-26BE-0EBDAA5AAC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9BF116-A14D-CC68-5D87-923A34BA748A}"/>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9531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8F47-641D-2264-04CB-F604D5DF07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98E6BC-15EC-CA30-5E23-88AF2FD98B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92A84E-F700-2DB9-ABB9-ADB2C73738EC}"/>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5" name="Footer Placeholder 4">
            <a:extLst>
              <a:ext uri="{FF2B5EF4-FFF2-40B4-BE49-F238E27FC236}">
                <a16:creationId xmlns:a16="http://schemas.microsoft.com/office/drawing/2014/main" id="{03327D6C-28FF-6583-B198-21C44FBD9D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ED61F-572B-6DFC-6D07-4FA28A58429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1055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2CF964-05D7-0C46-4BE4-03499B5576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A8B5A2-E2CE-6B4F-65C5-67CCF13A8E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BCB37-3C06-4A7A-F00E-AAA307D8BE59}"/>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5" name="Footer Placeholder 4">
            <a:extLst>
              <a:ext uri="{FF2B5EF4-FFF2-40B4-BE49-F238E27FC236}">
                <a16:creationId xmlns:a16="http://schemas.microsoft.com/office/drawing/2014/main" id="{C61D13E2-CFF9-2526-876A-5BBE2BEABF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580DF-F586-144A-CBD2-84B22B996A7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071649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1439171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920094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47333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16304729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966F3F-95DB-AB92-3120-832E4A7A3D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61B4B8-860E-0FA5-D653-5C2E4B8ACF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F2358-76E9-98C2-6CE0-C00D543EA1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1/10/2025</a:t>
            </a:fld>
            <a:endParaRPr lang="en-US"/>
          </a:p>
        </p:txBody>
      </p:sp>
      <p:sp>
        <p:nvSpPr>
          <p:cNvPr id="5" name="Footer Placeholder 4">
            <a:extLst>
              <a:ext uri="{FF2B5EF4-FFF2-40B4-BE49-F238E27FC236}">
                <a16:creationId xmlns:a16="http://schemas.microsoft.com/office/drawing/2014/main" id="{09ED4B5C-9A70-9FFB-9BA9-BB48DF3FE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3F8DFE-EBED-CE7D-3C9E-4299711D51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604008913"/>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 id="2147483928" r:id="rId14"/>
    <p:sldLayoutId id="2147483935" r:id="rId15"/>
    <p:sldLayoutId id="2147483662"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4.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p:txBody>
          <a:bodyPr/>
          <a:lstStyle/>
          <a:p>
            <a:r>
              <a:rPr lang="en-US" sz="6600" b="1" dirty="0">
                <a:solidFill>
                  <a:schemeClr val="bg1">
                    <a:lumMod val="95000"/>
                  </a:schemeClr>
                </a:solidFill>
              </a:rPr>
              <a:t>ATM system</a:t>
            </a:r>
            <a:br>
              <a:rPr lang="en-US" sz="6600" b="1" dirty="0">
                <a:solidFill>
                  <a:schemeClr val="bg1">
                    <a:lumMod val="95000"/>
                  </a:schemeClr>
                </a:solidFill>
              </a:rPr>
            </a:br>
            <a:r>
              <a:rPr lang="en-US" sz="2000" dirty="0">
                <a:latin typeface="Aptos Light" panose="020F0502020204030204" pitchFamily="34" charset="0"/>
              </a:rPr>
              <a:t>A secure and user-friendly ATM simulation project.</a:t>
            </a:r>
            <a:endParaRPr lang="en-US" sz="2000" b="1" dirty="0">
              <a:solidFill>
                <a:schemeClr val="bg1">
                  <a:lumMod val="95000"/>
                </a:schemeClr>
              </a:solidFill>
              <a:latin typeface="Aptos Light" panose="020F0502020204030204" pitchFamily="34" charset="0"/>
            </a:endParaRPr>
          </a:p>
        </p:txBody>
      </p:sp>
    </p:spTree>
    <p:extLst>
      <p:ext uri="{BB962C8B-B14F-4D97-AF65-F5344CB8AC3E}">
        <p14:creationId xmlns:p14="http://schemas.microsoft.com/office/powerpoint/2010/main" val="639264769"/>
      </p:ext>
    </p:extLst>
  </p:cSld>
  <p:clrMapOvr>
    <a:masterClrMapping/>
  </p:clrMapOvr>
  <mc:AlternateContent xmlns:mc="http://schemas.openxmlformats.org/markup-compatibility/2006" xmlns:p14="http://schemas.microsoft.com/office/powerpoint/2010/main">
    <mc:Choice Requires="p14">
      <p:transition spd="slow" p14:dur="2000" advTm="3765"/>
    </mc:Choice>
    <mc:Fallback xmlns="">
      <p:transition spd="slow" advTm="376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7" y="-661661"/>
            <a:ext cx="4837176" cy="1993392"/>
          </a:xfrm>
          <a:noFill/>
        </p:spPr>
        <p:txBody>
          <a:bodyPr anchor="b">
            <a:noAutofit/>
          </a:bodyPr>
          <a:lstStyle/>
          <a:p>
            <a:r>
              <a:rPr lang="en-US" dirty="0"/>
              <a:t>AGENDA</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086169" y="1331731"/>
            <a:ext cx="5914622" cy="4983876"/>
          </a:xfrm>
          <a:noFill/>
        </p:spPr>
        <p:txBody>
          <a:bodyPr anchor="t">
            <a:normAutofit/>
          </a:bodyPr>
          <a:lstStyle/>
          <a:p>
            <a:pPr marL="285750" indent="-285750">
              <a:buClr>
                <a:schemeClr val="tx2"/>
              </a:buClr>
              <a:buFont typeface="Arial" panose="020B0604020202020204" pitchFamily="34" charset="0"/>
              <a:buChar char="•"/>
            </a:pPr>
            <a:r>
              <a:rPr lang="en-US" dirty="0"/>
              <a:t>INTRODUCTION</a:t>
            </a:r>
          </a:p>
          <a:p>
            <a:pPr marL="285750" indent="-285750">
              <a:buClr>
                <a:schemeClr val="tx2"/>
              </a:buClr>
              <a:buFont typeface="Arial" panose="020B0604020202020204" pitchFamily="34" charset="0"/>
              <a:buChar char="•"/>
            </a:pPr>
            <a:r>
              <a:rPr lang="en-US" dirty="0"/>
              <a:t>Problem Statement and Solution</a:t>
            </a:r>
          </a:p>
          <a:p>
            <a:pPr marL="285750" indent="-285750">
              <a:buClr>
                <a:schemeClr val="tx2"/>
              </a:buClr>
              <a:buFont typeface="Arial" panose="020B0604020202020204" pitchFamily="34" charset="0"/>
              <a:buChar char="•"/>
            </a:pPr>
            <a:r>
              <a:rPr lang="en-US" dirty="0"/>
              <a:t>Features</a:t>
            </a:r>
          </a:p>
          <a:p>
            <a:pPr marL="285750" indent="-285750">
              <a:buClr>
                <a:schemeClr val="tx2"/>
              </a:buClr>
              <a:buFont typeface="Arial" panose="020B0604020202020204" pitchFamily="34" charset="0"/>
              <a:buChar char="•"/>
            </a:pPr>
            <a:r>
              <a:rPr lang="en-US" dirty="0"/>
              <a:t>Development Process</a:t>
            </a:r>
          </a:p>
          <a:p>
            <a:pPr marL="285750" indent="-285750">
              <a:buClr>
                <a:schemeClr val="tx2"/>
              </a:buClr>
              <a:buFont typeface="Arial" panose="020B0604020202020204" pitchFamily="34" charset="0"/>
              <a:buChar char="•"/>
            </a:pPr>
            <a:r>
              <a:rPr lang="en-US" dirty="0"/>
              <a:t>Technical</a:t>
            </a:r>
            <a:r>
              <a:rPr lang="en-US" b="1" dirty="0"/>
              <a:t> </a:t>
            </a:r>
            <a:r>
              <a:rPr lang="en-US" dirty="0"/>
              <a:t>Details</a:t>
            </a:r>
          </a:p>
          <a:p>
            <a:pPr marL="285750" indent="-285750">
              <a:buClr>
                <a:schemeClr val="tx2"/>
              </a:buClr>
              <a:buFont typeface="Arial" panose="020B0604020202020204" pitchFamily="34" charset="0"/>
              <a:buChar char="•"/>
            </a:pPr>
            <a:r>
              <a:rPr lang="en-US" dirty="0"/>
              <a:t>Demonstration</a:t>
            </a:r>
          </a:p>
          <a:p>
            <a:pPr marL="285750" indent="-285750">
              <a:buClr>
                <a:schemeClr val="tx2"/>
              </a:buClr>
              <a:buFont typeface="Arial" panose="020B0604020202020204" pitchFamily="34" charset="0"/>
              <a:buChar char="•"/>
            </a:pPr>
            <a:r>
              <a:rPr lang="en-US" dirty="0"/>
              <a:t>Lessons Learned</a:t>
            </a:r>
          </a:p>
          <a:p>
            <a:pPr marL="285750" indent="-285750">
              <a:buClr>
                <a:schemeClr val="tx2"/>
              </a:buClr>
              <a:buFont typeface="Arial" panose="020B0604020202020204" pitchFamily="34" charset="0"/>
              <a:buChar char="•"/>
            </a:pPr>
            <a:r>
              <a:rPr lang="en-US" dirty="0"/>
              <a:t>Future Improvements</a:t>
            </a:r>
          </a:p>
          <a:p>
            <a:pPr marL="285750" indent="-285750">
              <a:buClr>
                <a:schemeClr val="tx2"/>
              </a:buClr>
              <a:buFont typeface="Arial" panose="020B0604020202020204" pitchFamily="34" charset="0"/>
              <a:buChar char="•"/>
            </a:pPr>
            <a:r>
              <a:rPr lang="en-US" dirty="0"/>
              <a:t>Conclusion</a:t>
            </a:r>
          </a:p>
          <a:p>
            <a:endParaRPr lang="en-US" dirty="0"/>
          </a:p>
          <a:p>
            <a:endParaRPr lang="en-US" dirty="0"/>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p:txBody>
          <a:bodyPr anchor="ctr">
            <a:normAutofit/>
          </a:bodyPr>
          <a:lstStyle/>
          <a:p>
            <a:r>
              <a:rPr lang="en-US" dirty="0"/>
              <a:t>Introduction to ATM system</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quarter" idx="15"/>
          </p:nvPr>
        </p:nvSpPr>
        <p:spPr/>
        <p:txBody>
          <a:bodyPr>
            <a:normAutofit/>
          </a:bodyPr>
          <a:lstStyle/>
          <a:p>
            <a:r>
              <a:rPr lang="en-US"/>
              <a:t>Automated Teller Machines (ATMs) are crucial for modern banking, providing convenience and accessibility to cash. This presentation will explore the evolution, benefits, and challenges of ATM systems, emphasizing their role in enhancing financial accessibility for diverse populations.</a:t>
            </a:r>
          </a:p>
          <a:p>
            <a:endParaRPr lang="en-US" dirty="0"/>
          </a:p>
        </p:txBody>
      </p:sp>
      <p:pic>
        <p:nvPicPr>
          <p:cNvPr id="7" name="Content Placeholder 6" descr="Person using credit card">
            <a:extLst>
              <a:ext uri="{FF2B5EF4-FFF2-40B4-BE49-F238E27FC236}">
                <a16:creationId xmlns:a16="http://schemas.microsoft.com/office/drawing/2014/main" id="{EF670B43-20AE-3D7A-EDFC-0285FB80D249}"/>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p:blipFill>
        <p:spPr>
          <a:xfrm>
            <a:off x="6219825" y="2135290"/>
            <a:ext cx="5133975" cy="3424033"/>
          </a:xfrm>
          <a:noFill/>
        </p:spPr>
      </p:pic>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noFill/>
        </p:spPr>
        <p:txBody>
          <a:bodyPr anchor="ctr"/>
          <a:lstStyle/>
          <a:p>
            <a:pPr>
              <a:buClr>
                <a:schemeClr val="tx2"/>
              </a:buClr>
            </a:pPr>
            <a:r>
              <a:rPr lang="en-US" dirty="0"/>
              <a:t>Problem Statement and Solution</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noFill/>
        </p:spPr>
        <p:txBody>
          <a:bodyPr vert="horz" lIns="91440" tIns="45720" rIns="91440" bIns="45720" rtlCol="0" anchor="t">
            <a:normAutofit/>
          </a:bodyPr>
          <a:lstStyle/>
          <a:p>
            <a:r>
              <a:rPr lang="en-US" sz="2000" b="1" dirty="0">
                <a:latin typeface="+mj-lt"/>
              </a:rPr>
              <a:t>Problem:</a:t>
            </a:r>
          </a:p>
          <a:p>
            <a:r>
              <a:rPr lang="en-US" dirty="0"/>
              <a:t>"Banking systems need secure, accessible, and efficient methods for cash withdrawals, deposits, and account inquiries. Simulating an ATM system helps address these requirements and teaches robust software development practices."</a:t>
            </a:r>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sz="quarter" idx="16"/>
          </p:nvPr>
        </p:nvSpPr>
        <p:spPr>
          <a:noFill/>
        </p:spPr>
        <p:txBody>
          <a:bodyPr>
            <a:normAutofit/>
          </a:bodyPr>
          <a:lstStyle/>
          <a:p>
            <a:r>
              <a:rPr lang="en-US" sz="2000" b="1" dirty="0">
                <a:latin typeface="+mj-lt"/>
              </a:rPr>
              <a:t>Solution:</a:t>
            </a:r>
          </a:p>
          <a:p>
            <a:r>
              <a:rPr lang="en-US" dirty="0"/>
              <a:t>"Our ATM System provides a secure and intuitive interface for users to perform transactions like withdrawals, deposits, and balance inquiries, ensuring data security and accuracy."</a:t>
            </a:r>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C119-502C-F36B-F6F0-2C9A0A30C442}"/>
              </a:ext>
            </a:extLst>
          </p:cNvPr>
          <p:cNvSpPr>
            <a:spLocks noGrp="1"/>
          </p:cNvSpPr>
          <p:nvPr>
            <p:ph type="title"/>
          </p:nvPr>
        </p:nvSpPr>
        <p:spPr/>
        <p:txBody>
          <a:bodyPr/>
          <a:lstStyle/>
          <a:p>
            <a:r>
              <a:rPr lang="en-US" dirty="0"/>
              <a:t>Features</a:t>
            </a:r>
          </a:p>
        </p:txBody>
      </p:sp>
      <p:sp>
        <p:nvSpPr>
          <p:cNvPr id="6" name="Rectangle 2">
            <a:extLst>
              <a:ext uri="{FF2B5EF4-FFF2-40B4-BE49-F238E27FC236}">
                <a16:creationId xmlns:a16="http://schemas.microsoft.com/office/drawing/2014/main" id="{DF430EE1-E65F-BA6A-6D8B-77A25F811711}"/>
              </a:ext>
            </a:extLst>
          </p:cNvPr>
          <p:cNvSpPr>
            <a:spLocks noGrp="1" noChangeArrowheads="1"/>
          </p:cNvSpPr>
          <p:nvPr>
            <p:ph sz="quarter" idx="15"/>
          </p:nvPr>
        </p:nvSpPr>
        <p:spPr bwMode="auto">
          <a:xfrm>
            <a:off x="1161932" y="2052437"/>
            <a:ext cx="5488766" cy="2753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50000"/>
              </a:lnSpc>
              <a:spcBef>
                <a:spcPct val="0"/>
              </a:spcBef>
              <a:spcAft>
                <a:spcPct val="0"/>
              </a:spcAft>
              <a:buClr>
                <a:schemeClr val="tx2"/>
              </a:buClr>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     Secure login with PIN.</a:t>
            </a:r>
          </a:p>
          <a:p>
            <a:pPr marL="285750" marR="0" lvl="0" indent="-285750" algn="l" defTabSz="914400" rtl="0" eaLnBrk="0" fontAlgn="base" latinLnBrk="0" hangingPunct="0">
              <a:lnSpc>
                <a:spcPct val="250000"/>
              </a:lnSpc>
              <a:spcBef>
                <a:spcPct val="0"/>
              </a:spcBef>
              <a:spcAft>
                <a:spcPct val="0"/>
              </a:spcAft>
              <a:buClr>
                <a:schemeClr val="tx2"/>
              </a:buClr>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     Account balance inquiry.</a:t>
            </a:r>
          </a:p>
          <a:p>
            <a:pPr marL="285750" marR="0" lvl="0" indent="-285750" algn="l" defTabSz="914400" rtl="0" eaLnBrk="0" fontAlgn="base" latinLnBrk="0" hangingPunct="0">
              <a:lnSpc>
                <a:spcPct val="250000"/>
              </a:lnSpc>
              <a:spcBef>
                <a:spcPct val="0"/>
              </a:spcBef>
              <a:spcAft>
                <a:spcPct val="0"/>
              </a:spcAft>
              <a:buClr>
                <a:schemeClr val="tx2"/>
              </a:buClr>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     Cash withdrawal and deposit.</a:t>
            </a:r>
          </a:p>
          <a:p>
            <a:pPr marL="285750" marR="0" lvl="0" indent="-285750" algn="l" defTabSz="914400" rtl="0" eaLnBrk="0" fontAlgn="base" latinLnBrk="0" hangingPunct="0">
              <a:lnSpc>
                <a:spcPct val="250000"/>
              </a:lnSpc>
              <a:spcBef>
                <a:spcPct val="0"/>
              </a:spcBef>
              <a:spcAft>
                <a:spcPct val="0"/>
              </a:spcAft>
              <a:buClr>
                <a:schemeClr val="tx2"/>
              </a:buClr>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     Transaction history display. </a:t>
            </a:r>
          </a:p>
        </p:txBody>
      </p:sp>
      <p:pic>
        <p:nvPicPr>
          <p:cNvPr id="8" name="Content Placeholder 7" descr="Lock with solid fill">
            <a:extLst>
              <a:ext uri="{FF2B5EF4-FFF2-40B4-BE49-F238E27FC236}">
                <a16:creationId xmlns:a16="http://schemas.microsoft.com/office/drawing/2014/main" id="{BE54AF08-E50A-CD37-4987-FE5A197BB751}"/>
              </a:ext>
            </a:extLst>
          </p:cNvPr>
          <p:cNvPicPr>
            <a:picLocks noGrp="1" noChangeAspect="1"/>
          </p:cNvPicPr>
          <p:nvPr>
            <p:ph sz="quarter" idx="16"/>
          </p:nvPr>
        </p:nvPicPr>
        <p:blipFill>
          <a:blip r:embed="rId2">
            <a:extLst>
              <a:ext uri="{96DAC541-7B7A-43D3-8B79-37D633B846F1}">
                <asvg:svgBlip xmlns:asvg="http://schemas.microsoft.com/office/drawing/2016/SVG/main" r:embed="rId3"/>
              </a:ext>
            </a:extLst>
          </a:blip>
          <a:stretch>
            <a:fillRect/>
          </a:stretch>
        </p:blipFill>
        <p:spPr>
          <a:xfrm>
            <a:off x="1413156" y="2386900"/>
            <a:ext cx="302130" cy="302130"/>
          </a:xfrm>
        </p:spPr>
      </p:pic>
      <p:pic>
        <p:nvPicPr>
          <p:cNvPr id="12" name="Graphic 11" descr="Wallet with solid fill">
            <a:extLst>
              <a:ext uri="{FF2B5EF4-FFF2-40B4-BE49-F238E27FC236}">
                <a16:creationId xmlns:a16="http://schemas.microsoft.com/office/drawing/2014/main" id="{9954D8B5-4DE7-2656-5B04-81101F418F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5510" y="3050144"/>
            <a:ext cx="302130" cy="302130"/>
          </a:xfrm>
          <a:prstGeom prst="rect">
            <a:avLst/>
          </a:prstGeom>
        </p:spPr>
      </p:pic>
      <p:pic>
        <p:nvPicPr>
          <p:cNvPr id="14" name="Graphic 13" descr="Money with solid fill">
            <a:extLst>
              <a:ext uri="{FF2B5EF4-FFF2-40B4-BE49-F238E27FC236}">
                <a16:creationId xmlns:a16="http://schemas.microsoft.com/office/drawing/2014/main" id="{2F0B37F2-0FA0-A7B8-35EC-D31F5EF797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95510" y="3773645"/>
            <a:ext cx="302130" cy="302130"/>
          </a:xfrm>
          <a:prstGeom prst="rect">
            <a:avLst/>
          </a:prstGeom>
        </p:spPr>
      </p:pic>
      <p:pic>
        <p:nvPicPr>
          <p:cNvPr id="16" name="Graphic 15" descr="List with solid fill">
            <a:extLst>
              <a:ext uri="{FF2B5EF4-FFF2-40B4-BE49-F238E27FC236}">
                <a16:creationId xmlns:a16="http://schemas.microsoft.com/office/drawing/2014/main" id="{55F55EC4-F3A1-490C-7B92-CF60E6A9E5B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95510" y="4436889"/>
            <a:ext cx="302130" cy="302130"/>
          </a:xfrm>
          <a:prstGeom prst="rect">
            <a:avLst/>
          </a:prstGeom>
        </p:spPr>
      </p:pic>
    </p:spTree>
    <p:extLst>
      <p:ext uri="{BB962C8B-B14F-4D97-AF65-F5344CB8AC3E}">
        <p14:creationId xmlns:p14="http://schemas.microsoft.com/office/powerpoint/2010/main" val="3286656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2AEC4-E42E-C365-D860-F97826C6E694}"/>
              </a:ext>
            </a:extLst>
          </p:cNvPr>
          <p:cNvSpPr>
            <a:spLocks noGrp="1"/>
          </p:cNvSpPr>
          <p:nvPr>
            <p:ph type="title"/>
          </p:nvPr>
        </p:nvSpPr>
        <p:spPr>
          <a:xfrm>
            <a:off x="838200" y="365125"/>
            <a:ext cx="10515600" cy="1325563"/>
          </a:xfrm>
        </p:spPr>
        <p:txBody>
          <a:bodyPr anchor="ctr">
            <a:normAutofit/>
          </a:bodyPr>
          <a:lstStyle/>
          <a:p>
            <a:pPr algn="ctr"/>
            <a:r>
              <a:rPr lang="en-US" dirty="0"/>
              <a:t>Development Process</a:t>
            </a:r>
          </a:p>
        </p:txBody>
      </p:sp>
      <p:graphicFrame>
        <p:nvGraphicFramePr>
          <p:cNvPr id="9" name="Content Placeholder 8">
            <a:extLst>
              <a:ext uri="{FF2B5EF4-FFF2-40B4-BE49-F238E27FC236}">
                <a16:creationId xmlns:a16="http://schemas.microsoft.com/office/drawing/2014/main" id="{D66ADAE3-AD68-B09D-BA65-BC719A3A53B7}"/>
              </a:ext>
            </a:extLst>
          </p:cNvPr>
          <p:cNvGraphicFramePr>
            <a:graphicFrameLocks noGrp="1"/>
          </p:cNvGraphicFramePr>
          <p:nvPr>
            <p:ph idx="1"/>
            <p:extLst>
              <p:ext uri="{D42A27DB-BD31-4B8C-83A1-F6EECF244321}">
                <p14:modId xmlns:p14="http://schemas.microsoft.com/office/powerpoint/2010/main" val="28687232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8055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FE1F-ECAD-3C6A-8F00-B896C108BCD1}"/>
              </a:ext>
            </a:extLst>
          </p:cNvPr>
          <p:cNvSpPr>
            <a:spLocks noGrp="1"/>
          </p:cNvSpPr>
          <p:nvPr>
            <p:ph type="title"/>
          </p:nvPr>
        </p:nvSpPr>
        <p:spPr/>
        <p:txBody>
          <a:bodyPr/>
          <a:lstStyle/>
          <a:p>
            <a:r>
              <a:rPr lang="en-US" sz="4400" dirty="0"/>
              <a:t>Technical</a:t>
            </a:r>
            <a:r>
              <a:rPr lang="en-US" sz="4400" b="1" dirty="0"/>
              <a:t> </a:t>
            </a:r>
            <a:r>
              <a:rPr lang="en-US" sz="4400" dirty="0"/>
              <a:t>Details</a:t>
            </a:r>
          </a:p>
        </p:txBody>
      </p:sp>
      <p:sp>
        <p:nvSpPr>
          <p:cNvPr id="5" name="Rectangle 1">
            <a:extLst>
              <a:ext uri="{FF2B5EF4-FFF2-40B4-BE49-F238E27FC236}">
                <a16:creationId xmlns:a16="http://schemas.microsoft.com/office/drawing/2014/main" id="{1F5AC9D5-5A3F-D39A-1491-4C7563A49444}"/>
              </a:ext>
            </a:extLst>
          </p:cNvPr>
          <p:cNvSpPr>
            <a:spLocks noGrp="1" noChangeArrowheads="1"/>
          </p:cNvSpPr>
          <p:nvPr>
            <p:ph sz="quarter" idx="15"/>
          </p:nvPr>
        </p:nvSpPr>
        <p:spPr bwMode="auto">
          <a:xfrm>
            <a:off x="1673041" y="1690852"/>
            <a:ext cx="7936632" cy="2601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250000"/>
              </a:lnSpc>
              <a:spcBef>
                <a:spcPct val="0"/>
              </a:spcBef>
              <a:spcAft>
                <a:spcPct val="0"/>
              </a:spcAft>
              <a:buClr>
                <a:schemeClr val="tx2"/>
              </a:buClr>
              <a:buFont typeface="Arial" panose="05000000000000000000" pitchFamily="2" charset="2"/>
              <a:buChar char="•"/>
            </a:pPr>
            <a:r>
              <a:rPr lang="en-US" dirty="0">
                <a:ea typeface="+mn-lt"/>
                <a:cs typeface="+mn-lt"/>
              </a:rPr>
              <a:t>Programming Language: C++ for backend logic.</a:t>
            </a:r>
            <a:endParaRPr lang="en-US" dirty="0">
              <a:latin typeface="Aptos"/>
              <a:cs typeface="Arial"/>
            </a:endParaRPr>
          </a:p>
          <a:p>
            <a:pPr marL="285750" indent="-285750">
              <a:buClr>
                <a:schemeClr val="tx2"/>
              </a:buClr>
              <a:buFont typeface="Arial" panose="05000000000000000000" pitchFamily="2" charset="2"/>
              <a:buChar char="•"/>
            </a:pPr>
            <a:r>
              <a:rPr lang="en-US" dirty="0">
                <a:ea typeface="+mn-lt"/>
                <a:cs typeface="+mn-lt"/>
              </a:rPr>
              <a:t>User Interface: command line interface (CLI).</a:t>
            </a:r>
            <a:endParaRPr lang="en-US" dirty="0"/>
          </a:p>
          <a:p>
            <a:pPr marL="285750" indent="-285750">
              <a:lnSpc>
                <a:spcPct val="250000"/>
              </a:lnSpc>
              <a:spcBef>
                <a:spcPct val="0"/>
              </a:spcBef>
              <a:spcAft>
                <a:spcPct val="0"/>
              </a:spcAft>
              <a:buClr>
                <a:schemeClr val="tx2"/>
              </a:buClr>
              <a:buFont typeface="Arial" panose="05000000000000000000" pitchFamily="2" charset="2"/>
              <a:buChar char="•"/>
            </a:pPr>
            <a:r>
              <a:rPr lang="en-US" dirty="0">
                <a:ea typeface="+mn-lt"/>
                <a:cs typeface="+mn-lt"/>
              </a:rPr>
              <a:t>Development Environment: Dev C++ (IDE for C++ development on Windows).</a:t>
            </a:r>
            <a:endParaRPr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747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C2346-0C9E-0EA9-49DD-3FBE4AA753FD}"/>
              </a:ext>
            </a:extLst>
          </p:cNvPr>
          <p:cNvSpPr>
            <a:spLocks noGrp="1"/>
          </p:cNvSpPr>
          <p:nvPr>
            <p:ph type="title"/>
          </p:nvPr>
        </p:nvSpPr>
        <p:spPr/>
        <p:txBody>
          <a:bodyPr/>
          <a:lstStyle/>
          <a:p>
            <a:pPr algn="ctr"/>
            <a:r>
              <a:rPr lang="en-US" sz="4400" dirty="0"/>
              <a:t>Technical</a:t>
            </a:r>
            <a:r>
              <a:rPr lang="en-US" sz="4400" b="1" dirty="0"/>
              <a:t> </a:t>
            </a:r>
            <a:r>
              <a:rPr lang="en-US" sz="4400" dirty="0"/>
              <a:t>Details</a:t>
            </a:r>
          </a:p>
          <a:p>
            <a:endParaRPr lang="en-US" dirty="0"/>
          </a:p>
        </p:txBody>
      </p:sp>
      <p:sp>
        <p:nvSpPr>
          <p:cNvPr id="3" name="Content Placeholder 2">
            <a:extLst>
              <a:ext uri="{FF2B5EF4-FFF2-40B4-BE49-F238E27FC236}">
                <a16:creationId xmlns:a16="http://schemas.microsoft.com/office/drawing/2014/main" id="{95F30CCA-6619-60EE-054A-D2E6BFB4A9A2}"/>
              </a:ext>
            </a:extLst>
          </p:cNvPr>
          <p:cNvSpPr>
            <a:spLocks noGrp="1"/>
          </p:cNvSpPr>
          <p:nvPr>
            <p:ph sz="quarter" idx="15"/>
          </p:nvPr>
        </p:nvSpPr>
        <p:spPr>
          <a:xfrm>
            <a:off x="838200" y="1028329"/>
            <a:ext cx="5134335" cy="4113054"/>
          </a:xfrm>
        </p:spPr>
        <p:txBody>
          <a:bodyPr vert="horz" lIns="91440" tIns="45720" rIns="91440" bIns="45720" rtlCol="0" anchor="t">
            <a:normAutofit/>
          </a:bodyPr>
          <a:lstStyle/>
          <a:p>
            <a:pPr marL="285750" indent="-285750">
              <a:lnSpc>
                <a:spcPct val="250000"/>
              </a:lnSpc>
              <a:spcBef>
                <a:spcPct val="0"/>
              </a:spcBef>
              <a:spcAft>
                <a:spcPct val="0"/>
              </a:spcAft>
              <a:buFont typeface="Arial"/>
              <a:buChar char="•"/>
            </a:pPr>
            <a:r>
              <a:rPr lang="en-US" sz="1800" dirty="0">
                <a:latin typeface="Arial"/>
                <a:cs typeface="Arial"/>
              </a:rPr>
              <a:t>SQLite for the database.</a:t>
            </a:r>
          </a:p>
          <a:p>
            <a:endParaRPr lang="en-US" dirty="0"/>
          </a:p>
        </p:txBody>
      </p:sp>
      <p:pic>
        <p:nvPicPr>
          <p:cNvPr id="5" name="Content Placeholder 4" descr="A screenshot of a table&#10;&#10;Description automatically generated">
            <a:extLst>
              <a:ext uri="{FF2B5EF4-FFF2-40B4-BE49-F238E27FC236}">
                <a16:creationId xmlns:a16="http://schemas.microsoft.com/office/drawing/2014/main" id="{D607E101-C8E0-7B4F-E53D-55A40C17D3D3}"/>
              </a:ext>
            </a:extLst>
          </p:cNvPr>
          <p:cNvPicPr>
            <a:picLocks noGrp="1" noChangeAspect="1"/>
          </p:cNvPicPr>
          <p:nvPr>
            <p:ph sz="quarter" idx="16"/>
          </p:nvPr>
        </p:nvPicPr>
        <p:blipFill>
          <a:blip r:embed="rId2"/>
          <a:stretch>
            <a:fillRect/>
          </a:stretch>
        </p:blipFill>
        <p:spPr>
          <a:xfrm>
            <a:off x="835857" y="4899455"/>
            <a:ext cx="5133975" cy="1193539"/>
          </a:xfrm>
        </p:spPr>
      </p:pic>
      <p:sp>
        <p:nvSpPr>
          <p:cNvPr id="6" name="TextBox 5">
            <a:extLst>
              <a:ext uri="{FF2B5EF4-FFF2-40B4-BE49-F238E27FC236}">
                <a16:creationId xmlns:a16="http://schemas.microsoft.com/office/drawing/2014/main" id="{382CE242-CAE4-128E-DE57-27B2ED6CF921}"/>
              </a:ext>
            </a:extLst>
          </p:cNvPr>
          <p:cNvSpPr txBox="1"/>
          <p:nvPr/>
        </p:nvSpPr>
        <p:spPr>
          <a:xfrm>
            <a:off x="6810714" y="1365187"/>
            <a:ext cx="49545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latin typeface="Arial"/>
                <a:cs typeface="Arial"/>
              </a:rPr>
              <a:t>Architecture (Flowchart)</a:t>
            </a:r>
            <a:endParaRPr lang="en-US"/>
          </a:p>
          <a:p>
            <a:pPr marL="285750" indent="-285750">
              <a:buFont typeface="Arial"/>
              <a:buChar char="•"/>
            </a:pPr>
            <a:endParaRPr lang="en-US" dirty="0">
              <a:latin typeface="Arial"/>
              <a:cs typeface="Arial"/>
            </a:endParaRPr>
          </a:p>
        </p:txBody>
      </p:sp>
      <p:pic>
        <p:nvPicPr>
          <p:cNvPr id="8" name="Picture 7" descr="A diagram of a computer&#10;&#10;Description automatically generated">
            <a:extLst>
              <a:ext uri="{FF2B5EF4-FFF2-40B4-BE49-F238E27FC236}">
                <a16:creationId xmlns:a16="http://schemas.microsoft.com/office/drawing/2014/main" id="{BFF5AB4F-0124-2797-C5B5-39DEBF22C939}"/>
              </a:ext>
            </a:extLst>
          </p:cNvPr>
          <p:cNvPicPr>
            <a:picLocks noChangeAspect="1"/>
          </p:cNvPicPr>
          <p:nvPr/>
        </p:nvPicPr>
        <p:blipFill>
          <a:blip r:embed="rId3"/>
          <a:stretch>
            <a:fillRect/>
          </a:stretch>
        </p:blipFill>
        <p:spPr>
          <a:xfrm>
            <a:off x="7123972" y="1833192"/>
            <a:ext cx="3488063" cy="4339652"/>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C9A236D0-E932-F2E8-BFD1-753CB0FF3C23}"/>
              </a:ext>
            </a:extLst>
          </p:cNvPr>
          <p:cNvPicPr>
            <a:picLocks noChangeAspect="1"/>
          </p:cNvPicPr>
          <p:nvPr/>
        </p:nvPicPr>
        <p:blipFill>
          <a:blip r:embed="rId4"/>
          <a:stretch>
            <a:fillRect/>
          </a:stretch>
        </p:blipFill>
        <p:spPr>
          <a:xfrm>
            <a:off x="1154337" y="1690140"/>
            <a:ext cx="3787328" cy="3202899"/>
          </a:xfrm>
          <a:prstGeom prst="rect">
            <a:avLst/>
          </a:prstGeom>
        </p:spPr>
      </p:pic>
    </p:spTree>
    <p:extLst>
      <p:ext uri="{BB962C8B-B14F-4D97-AF65-F5344CB8AC3E}">
        <p14:creationId xmlns:p14="http://schemas.microsoft.com/office/powerpoint/2010/main" val="2683269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6163C-B2DC-4664-23BE-4AE6A8329FAC}"/>
              </a:ext>
            </a:extLst>
          </p:cNvPr>
          <p:cNvSpPr>
            <a:spLocks noGrp="1"/>
          </p:cNvSpPr>
          <p:nvPr>
            <p:ph type="title"/>
          </p:nvPr>
        </p:nvSpPr>
        <p:spPr>
          <a:xfrm>
            <a:off x="838200" y="365760"/>
            <a:ext cx="10515600" cy="1325563"/>
          </a:xfrm>
        </p:spPr>
        <p:txBody>
          <a:bodyPr anchor="ctr">
            <a:normAutofit/>
          </a:bodyPr>
          <a:lstStyle/>
          <a:p>
            <a:r>
              <a:rPr lang="en-US" dirty="0"/>
              <a:t>Demonstration</a:t>
            </a:r>
          </a:p>
        </p:txBody>
      </p:sp>
      <p:pic>
        <p:nvPicPr>
          <p:cNvPr id="6" name="Content Placeholder 5" descr="A black screen with a black background&#10;&#10;Description automatically generated">
            <a:extLst>
              <a:ext uri="{FF2B5EF4-FFF2-40B4-BE49-F238E27FC236}">
                <a16:creationId xmlns:a16="http://schemas.microsoft.com/office/drawing/2014/main" id="{35A2CE3F-5F88-3948-E672-4738DCAA62D7}"/>
              </a:ext>
            </a:extLst>
          </p:cNvPr>
          <p:cNvPicPr>
            <a:picLocks noGrp="1" noChangeAspect="1"/>
          </p:cNvPicPr>
          <p:nvPr>
            <p:ph sz="quarter" idx="15"/>
          </p:nvPr>
        </p:nvPicPr>
        <p:blipFill>
          <a:blip r:embed="rId2">
            <a:extLst>
              <a:ext uri="{28A0092B-C50C-407E-A947-70E740481C1C}">
                <a14:useLocalDpi xmlns:a14="http://schemas.microsoft.com/office/drawing/2010/main" val="0"/>
              </a:ext>
            </a:extLst>
          </a:blip>
          <a:srcRect r="36026" b="2"/>
          <a:stretch/>
        </p:blipFill>
        <p:spPr>
          <a:xfrm>
            <a:off x="838200" y="1790329"/>
            <a:ext cx="5134335" cy="4113054"/>
          </a:xfrm>
          <a:noFill/>
        </p:spPr>
      </p:pic>
      <p:pic>
        <p:nvPicPr>
          <p:cNvPr id="8" name="Content Placeholder 7" descr="A black screen with white text&#10;&#10;Description automatically generated">
            <a:extLst>
              <a:ext uri="{FF2B5EF4-FFF2-40B4-BE49-F238E27FC236}">
                <a16:creationId xmlns:a16="http://schemas.microsoft.com/office/drawing/2014/main" id="{AAA17998-0D3B-5BB8-01EA-E0451F26AA45}"/>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rcRect r="34777" b="2"/>
          <a:stretch/>
        </p:blipFill>
        <p:spPr>
          <a:xfrm>
            <a:off x="6219464" y="1790329"/>
            <a:ext cx="5134335" cy="4113054"/>
          </a:xfrm>
          <a:noFill/>
        </p:spPr>
      </p:pic>
    </p:spTree>
    <p:extLst>
      <p:ext uri="{BB962C8B-B14F-4D97-AF65-F5344CB8AC3E}">
        <p14:creationId xmlns:p14="http://schemas.microsoft.com/office/powerpoint/2010/main" val="2790664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C58D4-E7CE-4298-D7DA-A737B6A7BB51}"/>
              </a:ext>
            </a:extLst>
          </p:cNvPr>
          <p:cNvSpPr>
            <a:spLocks noGrp="1"/>
          </p:cNvSpPr>
          <p:nvPr>
            <p:ph type="title"/>
          </p:nvPr>
        </p:nvSpPr>
        <p:spPr/>
        <p:txBody>
          <a:bodyPr/>
          <a:lstStyle/>
          <a:p>
            <a:r>
              <a:rPr lang="en-US" dirty="0"/>
              <a:t>Lessons Learned</a:t>
            </a:r>
          </a:p>
        </p:txBody>
      </p:sp>
      <p:sp>
        <p:nvSpPr>
          <p:cNvPr id="5" name="Rectangle 1">
            <a:extLst>
              <a:ext uri="{FF2B5EF4-FFF2-40B4-BE49-F238E27FC236}">
                <a16:creationId xmlns:a16="http://schemas.microsoft.com/office/drawing/2014/main" id="{A3683A90-8069-AC0B-23E2-B6F7E39D9664}"/>
              </a:ext>
            </a:extLst>
          </p:cNvPr>
          <p:cNvSpPr>
            <a:spLocks noGrp="1" noChangeArrowheads="1"/>
          </p:cNvSpPr>
          <p:nvPr>
            <p:ph sz="quarter" idx="15"/>
          </p:nvPr>
        </p:nvSpPr>
        <p:spPr bwMode="auto">
          <a:xfrm>
            <a:off x="838200" y="927129"/>
            <a:ext cx="9294034" cy="5003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200000"/>
              </a:lnSpc>
              <a:spcBef>
                <a:spcPct val="0"/>
              </a:spcBef>
              <a:spcAft>
                <a:spcPct val="0"/>
              </a:spcAft>
              <a:buClr>
                <a:schemeClr val="tx2"/>
              </a:buClr>
              <a:buSzTx/>
              <a:buFont typeface="+mj-lt"/>
              <a:buAutoNum type="arabicPeriod"/>
              <a:tabLst/>
            </a:pPr>
            <a:r>
              <a:rPr kumimoji="0" lang="en-US" altLang="en-US" sz="1800" b="1" i="0" u="none" strike="noStrike" cap="none" normalizeH="0" baseline="0" dirty="0">
                <a:ln>
                  <a:noFill/>
                </a:ln>
                <a:solidFill>
                  <a:schemeClr val="tx1"/>
                </a:solidFill>
                <a:effectLst/>
              </a:rPr>
              <a:t>User-Centric Design: </a:t>
            </a:r>
            <a:r>
              <a:rPr kumimoji="0" lang="en-US" altLang="en-US" sz="1800" b="0" i="0" u="none" strike="noStrike" cap="none" normalizeH="0" baseline="0" dirty="0">
                <a:ln>
                  <a:noFill/>
                </a:ln>
                <a:solidFill>
                  <a:schemeClr val="tx1"/>
                </a:solidFill>
                <a:effectLst/>
              </a:rPr>
              <a:t>Stakeholder feedback shaped user stories and system features.</a:t>
            </a:r>
          </a:p>
          <a:p>
            <a:pPr marL="342900" marR="0" lvl="0" indent="-342900" algn="l" defTabSz="914400" rtl="0" eaLnBrk="0" fontAlgn="base" latinLnBrk="0" hangingPunct="0">
              <a:lnSpc>
                <a:spcPct val="200000"/>
              </a:lnSpc>
              <a:spcBef>
                <a:spcPct val="0"/>
              </a:spcBef>
              <a:spcAft>
                <a:spcPct val="0"/>
              </a:spcAft>
              <a:buClr>
                <a:schemeClr val="tx2"/>
              </a:buClr>
              <a:buSzTx/>
              <a:buFont typeface="+mj-lt"/>
              <a:buAutoNum type="arabicPeriod"/>
              <a:tabLst/>
            </a:pPr>
            <a:r>
              <a:rPr kumimoji="0" lang="en-US" altLang="en-US" sz="1800" b="1" i="0" u="none" strike="noStrike" cap="none" normalizeH="0" baseline="0" dirty="0">
                <a:ln>
                  <a:noFill/>
                </a:ln>
                <a:solidFill>
                  <a:schemeClr val="tx1"/>
                </a:solidFill>
                <a:effectLst/>
              </a:rPr>
              <a:t>Organized Development:</a:t>
            </a:r>
            <a:r>
              <a:rPr kumimoji="0" lang="en-US" altLang="en-US" sz="1800" b="0" i="0" u="none" strike="noStrike" cap="none" normalizeH="0" baseline="0" dirty="0">
                <a:ln>
                  <a:noFill/>
                </a:ln>
                <a:solidFill>
                  <a:schemeClr val="tx1"/>
                </a:solidFill>
                <a:effectLst/>
              </a:rPr>
              <a:t> Breaking down tasks into manageable components streamlined implementation. </a:t>
            </a:r>
          </a:p>
          <a:p>
            <a:pPr marL="342900" marR="0" lvl="0" indent="-342900" algn="l" defTabSz="914400" rtl="0" eaLnBrk="0" fontAlgn="base" latinLnBrk="0" hangingPunct="0">
              <a:lnSpc>
                <a:spcPct val="200000"/>
              </a:lnSpc>
              <a:spcBef>
                <a:spcPct val="0"/>
              </a:spcBef>
              <a:spcAft>
                <a:spcPct val="0"/>
              </a:spcAft>
              <a:buClr>
                <a:schemeClr val="tx2"/>
              </a:buClr>
              <a:buSzTx/>
              <a:buFont typeface="+mj-lt"/>
              <a:buAutoNum type="arabicPeriod"/>
              <a:tabLst/>
            </a:pPr>
            <a:r>
              <a:rPr kumimoji="0" lang="en-US" altLang="en-US" sz="1800" b="1" i="0" u="none" strike="noStrike" cap="none" normalizeH="0" baseline="0" dirty="0">
                <a:ln>
                  <a:noFill/>
                </a:ln>
                <a:solidFill>
                  <a:schemeClr val="tx1"/>
                </a:solidFill>
                <a:effectLst/>
              </a:rPr>
              <a:t>Thorough Testing: </a:t>
            </a:r>
            <a:r>
              <a:rPr kumimoji="0" lang="en-US" altLang="en-US" sz="1800" b="0" i="0" u="none" strike="noStrike" cap="none" normalizeH="0" baseline="0" dirty="0">
                <a:ln>
                  <a:noFill/>
                </a:ln>
                <a:solidFill>
                  <a:schemeClr val="tx1"/>
                </a:solidFill>
                <a:effectLst/>
              </a:rPr>
              <a:t>Rigorous testing identified bugs early, ensuring system reliability.</a:t>
            </a:r>
          </a:p>
          <a:p>
            <a:pPr marL="342900" marR="0" lvl="0" indent="-342900" algn="l" defTabSz="914400" rtl="0" eaLnBrk="0" fontAlgn="base" latinLnBrk="0" hangingPunct="0">
              <a:lnSpc>
                <a:spcPct val="200000"/>
              </a:lnSpc>
              <a:spcBef>
                <a:spcPct val="0"/>
              </a:spcBef>
              <a:spcAft>
                <a:spcPct val="0"/>
              </a:spcAft>
              <a:buClr>
                <a:schemeClr val="tx2"/>
              </a:buClr>
              <a:buSzTx/>
              <a:buFont typeface="+mj-lt"/>
              <a:buAutoNum type="arabicPeriod"/>
              <a:tabLst/>
            </a:pPr>
            <a:r>
              <a:rPr kumimoji="0" lang="en-US" altLang="en-US" sz="1800" b="1" i="0" u="none" strike="noStrike" cap="none" normalizeH="0" baseline="0" dirty="0">
                <a:ln>
                  <a:noFill/>
                </a:ln>
                <a:solidFill>
                  <a:schemeClr val="tx1"/>
                </a:solidFill>
                <a:effectLst/>
              </a:rPr>
              <a:t>Agile Practices: </a:t>
            </a:r>
            <a:r>
              <a:rPr kumimoji="0" lang="en-US" altLang="en-US" sz="1800" b="0" i="0" u="none" strike="noStrike" cap="none" normalizeH="0" baseline="0" dirty="0">
                <a:ln>
                  <a:noFill/>
                </a:ln>
                <a:solidFill>
                  <a:schemeClr val="tx1"/>
                </a:solidFill>
                <a:effectLst/>
              </a:rPr>
              <a:t>Iterative development improved adaptability and helped meet deadlines.</a:t>
            </a:r>
          </a:p>
          <a:p>
            <a:pPr marL="342900" marR="0" lvl="0" indent="-342900" algn="l" defTabSz="914400" rtl="0" eaLnBrk="0" fontAlgn="base" latinLnBrk="0" hangingPunct="0">
              <a:lnSpc>
                <a:spcPct val="200000"/>
              </a:lnSpc>
              <a:spcBef>
                <a:spcPct val="0"/>
              </a:spcBef>
              <a:spcAft>
                <a:spcPct val="0"/>
              </a:spcAft>
              <a:buClr>
                <a:schemeClr val="tx2"/>
              </a:buClr>
              <a:buSzTx/>
              <a:buFont typeface="+mj-lt"/>
              <a:buAutoNum type="arabicPeriod"/>
              <a:tabLst/>
            </a:pPr>
            <a:r>
              <a:rPr kumimoji="0" lang="en-US" altLang="en-US" sz="1800" b="1" i="0" u="none" strike="noStrike" cap="none" normalizeH="0" baseline="0" dirty="0">
                <a:ln>
                  <a:noFill/>
                </a:ln>
                <a:solidFill>
                  <a:schemeClr val="tx1"/>
                </a:solidFill>
                <a:effectLst/>
              </a:rPr>
              <a:t>Documentation:</a:t>
            </a:r>
            <a:r>
              <a:rPr kumimoji="0" lang="en-US" altLang="en-US" sz="1800" b="0" i="0" u="none" strike="noStrike" cap="none" normalizeH="0" baseline="0" dirty="0">
                <a:ln>
                  <a:noFill/>
                </a:ln>
                <a:solidFill>
                  <a:schemeClr val="tx1"/>
                </a:solidFill>
                <a:effectLst/>
              </a:rPr>
              <a:t> Comprehensive README and manuals enhanced accessibility and usability.</a:t>
            </a:r>
          </a:p>
        </p:txBody>
      </p:sp>
    </p:spTree>
    <p:extLst>
      <p:ext uri="{BB962C8B-B14F-4D97-AF65-F5344CB8AC3E}">
        <p14:creationId xmlns:p14="http://schemas.microsoft.com/office/powerpoint/2010/main" val="2030874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F314D-9520-CBCE-1568-CBFD1A173DBD}"/>
              </a:ext>
            </a:extLst>
          </p:cNvPr>
          <p:cNvSpPr>
            <a:spLocks noGrp="1"/>
          </p:cNvSpPr>
          <p:nvPr>
            <p:ph type="title"/>
          </p:nvPr>
        </p:nvSpPr>
        <p:spPr/>
        <p:txBody>
          <a:bodyPr/>
          <a:lstStyle/>
          <a:p>
            <a:r>
              <a:rPr lang="en-US" dirty="0"/>
              <a:t>Future Improvements</a:t>
            </a:r>
          </a:p>
        </p:txBody>
      </p:sp>
      <p:sp>
        <p:nvSpPr>
          <p:cNvPr id="5" name="Rectangle 1">
            <a:extLst>
              <a:ext uri="{FF2B5EF4-FFF2-40B4-BE49-F238E27FC236}">
                <a16:creationId xmlns:a16="http://schemas.microsoft.com/office/drawing/2014/main" id="{39883101-6DE6-C45E-0B78-F8C51FC0974F}"/>
              </a:ext>
            </a:extLst>
          </p:cNvPr>
          <p:cNvSpPr>
            <a:spLocks noGrp="1" noChangeArrowheads="1"/>
          </p:cNvSpPr>
          <p:nvPr>
            <p:ph sz="quarter" idx="15"/>
          </p:nvPr>
        </p:nvSpPr>
        <p:spPr bwMode="auto">
          <a:xfrm>
            <a:off x="838200" y="1691323"/>
            <a:ext cx="5599674" cy="2326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50000"/>
              </a:lnSpc>
              <a:spcBef>
                <a:spcPct val="0"/>
              </a:spcBef>
              <a:spcAft>
                <a:spcPct val="0"/>
              </a:spcAft>
              <a:buClr>
                <a:schemeClr val="tx2"/>
              </a:buClr>
              <a:buSzTx/>
              <a:buFontTx/>
              <a:buChar char="•"/>
              <a:tabLst/>
            </a:pPr>
            <a:r>
              <a:rPr kumimoji="0" lang="en-US" altLang="en-US" sz="1800" b="0" i="0" u="none" strike="noStrike" cap="none" normalizeH="0" baseline="0" dirty="0">
                <a:ln>
                  <a:noFill/>
                </a:ln>
                <a:solidFill>
                  <a:schemeClr val="tx1"/>
                </a:solidFill>
                <a:effectLst/>
              </a:rPr>
              <a:t>Adding biometric authentication.</a:t>
            </a:r>
          </a:p>
          <a:p>
            <a:pPr marL="0" marR="0" lvl="0" indent="0" algn="l" defTabSz="914400" rtl="0" eaLnBrk="0" fontAlgn="base" latinLnBrk="0" hangingPunct="0">
              <a:lnSpc>
                <a:spcPct val="250000"/>
              </a:lnSpc>
              <a:spcBef>
                <a:spcPct val="0"/>
              </a:spcBef>
              <a:spcAft>
                <a:spcPct val="0"/>
              </a:spcAft>
              <a:buClr>
                <a:schemeClr val="tx2"/>
              </a:buClr>
              <a:buSzTx/>
              <a:buFontTx/>
              <a:buChar char="•"/>
              <a:tabLst/>
            </a:pPr>
            <a:r>
              <a:rPr kumimoji="0" lang="en-US" altLang="en-US" sz="1800" b="0" i="0" u="none" strike="noStrike" cap="none" normalizeH="0" baseline="0" dirty="0">
                <a:ln>
                  <a:noFill/>
                </a:ln>
                <a:solidFill>
                  <a:schemeClr val="tx1"/>
                </a:solidFill>
                <a:effectLst/>
              </a:rPr>
              <a:t>Integrating with bank APIs for real-time transactions.</a:t>
            </a:r>
          </a:p>
          <a:p>
            <a:pPr marL="0" marR="0" lvl="0" indent="0" algn="l" defTabSz="914400" rtl="0" eaLnBrk="0" fontAlgn="base" latinLnBrk="0" hangingPunct="0">
              <a:lnSpc>
                <a:spcPct val="250000"/>
              </a:lnSpc>
              <a:spcBef>
                <a:spcPct val="0"/>
              </a:spcBef>
              <a:spcAft>
                <a:spcPct val="0"/>
              </a:spcAft>
              <a:buClr>
                <a:schemeClr val="tx2"/>
              </a:buClr>
              <a:buSzTx/>
              <a:buFontTx/>
              <a:buChar char="•"/>
              <a:tabLst/>
            </a:pPr>
            <a:r>
              <a:rPr kumimoji="0" lang="en-US" altLang="en-US" sz="1800" b="0" i="0" u="none" strike="noStrike" cap="none" normalizeH="0" baseline="0" dirty="0">
                <a:ln>
                  <a:noFill/>
                </a:ln>
                <a:solidFill>
                  <a:schemeClr val="tx1"/>
                </a:solidFill>
                <a:effectLst/>
              </a:rPr>
              <a:t>Mobile app support. </a:t>
            </a:r>
          </a:p>
        </p:txBody>
      </p:sp>
    </p:spTree>
    <p:extLst>
      <p:ext uri="{BB962C8B-B14F-4D97-AF65-F5344CB8AC3E}">
        <p14:creationId xmlns:p14="http://schemas.microsoft.com/office/powerpoint/2010/main" val="3432109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ECB70-5D8B-62B5-12EC-1E9594A22D1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9F0E9D0-5909-63E9-A03C-4B379652F038}"/>
              </a:ext>
            </a:extLst>
          </p:cNvPr>
          <p:cNvSpPr>
            <a:spLocks noGrp="1"/>
          </p:cNvSpPr>
          <p:nvPr>
            <p:ph sz="quarter" idx="15"/>
          </p:nvPr>
        </p:nvSpPr>
        <p:spPr>
          <a:xfrm>
            <a:off x="2506521" y="2441409"/>
            <a:ext cx="6961210" cy="1975182"/>
          </a:xfrm>
        </p:spPr>
        <p:txBody>
          <a:bodyPr/>
          <a:lstStyle/>
          <a:p>
            <a:pPr algn="ctr"/>
            <a:r>
              <a:rPr lang="en-US" dirty="0"/>
              <a:t>The ATM System is a robust and secure simulation of an automated teller machine, designed to provide real-world functionality and learning opportunities in software development.</a:t>
            </a:r>
          </a:p>
        </p:txBody>
      </p:sp>
    </p:spTree>
    <p:extLst>
      <p:ext uri="{BB962C8B-B14F-4D97-AF65-F5344CB8AC3E}">
        <p14:creationId xmlns:p14="http://schemas.microsoft.com/office/powerpoint/2010/main" val="319787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6" y="959836"/>
            <a:ext cx="9467127" cy="2527911"/>
          </a:xfrm>
        </p:spPr>
        <p:txBody>
          <a:bodyPr/>
          <a:lstStyle/>
          <a:p>
            <a:r>
              <a:rPr lang="en-US" dirty="0"/>
              <a:t>THANK YOU</a:t>
            </a:r>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documentManagement/types"/>
    <ds:schemaRef ds:uri="http://purl.org/dc/elements/1.1/"/>
    <ds:schemaRef ds:uri="16c05727-aa75-4e4a-9b5f-8a80a1165891"/>
    <ds:schemaRef ds:uri="http://purl.org/dc/terms/"/>
    <ds:schemaRef ds:uri="http://schemas.microsoft.com/office/2006/metadata/properties"/>
    <ds:schemaRef ds:uri="230e9df3-be65-4c73-a93b-d1236ebd677e"/>
    <ds:schemaRef ds:uri="http://schemas.microsoft.com/office/infopath/2007/PartnerControls"/>
    <ds:schemaRef ds:uri="http://purl.org/dc/dcmitype/"/>
    <ds:schemaRef ds:uri="71af3243-3dd4-4a8d-8c0d-dd76da1f02a5"/>
    <ds:schemaRef ds:uri="http://schemas.openxmlformats.org/package/2006/metadata/core-properties"/>
    <ds:schemaRef ds:uri="http://schemas.microsoft.com/sharepoint/v3"/>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421</TotalTime>
  <Words>404</Words>
  <Application>Microsoft Office PowerPoint</Application>
  <PresentationFormat>Widescreen</PresentationFormat>
  <Paragraphs>60</Paragraphs>
  <Slides>13</Slides>
  <Notes>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ATM system A secure and user-friendly ATM simulation project.</vt:lpstr>
      <vt:lpstr>AGENDA</vt:lpstr>
      <vt:lpstr>Introduction to ATM system</vt:lpstr>
      <vt:lpstr>Problem Statement and Solution</vt:lpstr>
      <vt:lpstr>Features</vt:lpstr>
      <vt:lpstr>Development Process</vt:lpstr>
      <vt:lpstr>Technical Details</vt:lpstr>
      <vt:lpstr>Technical Details </vt:lpstr>
      <vt:lpstr>Demonstration</vt:lpstr>
      <vt:lpstr>Lessons Learned</vt:lpstr>
      <vt:lpstr>Future Improvements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FEDAA YASİNOĞLU</dc:creator>
  <cp:lastModifiedBy>fedaa elsayed</cp:lastModifiedBy>
  <cp:revision>86</cp:revision>
  <dcterms:created xsi:type="dcterms:W3CDTF">2025-01-09T12:24:44Z</dcterms:created>
  <dcterms:modified xsi:type="dcterms:W3CDTF">2025-01-10T16:42:20Z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